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Kantumruy Pro"/>
      <p:regular r:id="rId40"/>
      <p:bold r:id="rId41"/>
      <p:italic r:id="rId42"/>
      <p:boldItalic r:id="rId43"/>
    </p:embeddedFont>
    <p:embeddedFont>
      <p:font typeface="Google Sans"/>
      <p:regular r:id="rId44"/>
      <p:bold r:id="rId45"/>
      <p:italic r:id="rId46"/>
      <p:boldItalic r:id="rId47"/>
    </p:embeddedFont>
    <p:embeddedFont>
      <p:font typeface="Google Sans Medium"/>
      <p:regular r:id="rId48"/>
      <p:bold r:id="rId49"/>
      <p:italic r:id="rId50"/>
      <p:boldItalic r:id="rId51"/>
    </p:embeddedFont>
    <p:embeddedFont>
      <p:font typeface="Kantumruy Pro SemiBold"/>
      <p:regular r:id="rId52"/>
      <p:bold r:id="rId53"/>
      <p:italic r:id="rId54"/>
      <p:boldItalic r:id="rId55"/>
    </p:embeddedFont>
    <p:embeddedFont>
      <p:font typeface="Nokora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hzBK/MJbH8qDcEK+T9Ero0kBdF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ntumruyPro-regular.fntdata"/><Relationship Id="rId42" Type="http://schemas.openxmlformats.org/officeDocument/2006/relationships/font" Target="fonts/KantumruyPro-italic.fntdata"/><Relationship Id="rId41" Type="http://schemas.openxmlformats.org/officeDocument/2006/relationships/font" Target="fonts/KantumruyPro-bold.fntdata"/><Relationship Id="rId44" Type="http://schemas.openxmlformats.org/officeDocument/2006/relationships/font" Target="fonts/GoogleSans-regular.fntdata"/><Relationship Id="rId43" Type="http://schemas.openxmlformats.org/officeDocument/2006/relationships/font" Target="fonts/KantumruyPro-boldItalic.fntdata"/><Relationship Id="rId46" Type="http://schemas.openxmlformats.org/officeDocument/2006/relationships/font" Target="fonts/GoogleSans-italic.fntdata"/><Relationship Id="rId45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GoogleSansMedium-regular.fntdata"/><Relationship Id="rId47" Type="http://schemas.openxmlformats.org/officeDocument/2006/relationships/font" Target="fonts/GoogleSans-boldItalic.fntdata"/><Relationship Id="rId49" Type="http://schemas.openxmlformats.org/officeDocument/2006/relationships/font" Target="fonts/GoogleSans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GoogleSansMedium-boldItalic.fntdata"/><Relationship Id="rId50" Type="http://schemas.openxmlformats.org/officeDocument/2006/relationships/font" Target="fonts/GoogleSansMedium-italic.fntdata"/><Relationship Id="rId53" Type="http://schemas.openxmlformats.org/officeDocument/2006/relationships/font" Target="fonts/KantumruyProSemiBold-bold.fntdata"/><Relationship Id="rId52" Type="http://schemas.openxmlformats.org/officeDocument/2006/relationships/font" Target="fonts/KantumruyProSemiBold-regular.fntdata"/><Relationship Id="rId11" Type="http://schemas.openxmlformats.org/officeDocument/2006/relationships/slide" Target="slides/slide7.xml"/><Relationship Id="rId55" Type="http://schemas.openxmlformats.org/officeDocument/2006/relationships/font" Target="fonts/KantumruyProSemiBold-boldItalic.fntdata"/><Relationship Id="rId10" Type="http://schemas.openxmlformats.org/officeDocument/2006/relationships/slide" Target="slides/slide6.xml"/><Relationship Id="rId54" Type="http://schemas.openxmlformats.org/officeDocument/2006/relationships/font" Target="fonts/KantumruyProSemiBold-italic.fntdata"/><Relationship Id="rId13" Type="http://schemas.openxmlformats.org/officeDocument/2006/relationships/slide" Target="slides/slide9.xml"/><Relationship Id="rId57" Type="http://schemas.openxmlformats.org/officeDocument/2006/relationships/font" Target="fonts/Nokora-bold.fntdata"/><Relationship Id="rId12" Type="http://schemas.openxmlformats.org/officeDocument/2006/relationships/slide" Target="slides/slide8.xml"/><Relationship Id="rId56" Type="http://schemas.openxmlformats.org/officeDocument/2006/relationships/font" Target="fonts/Nokora-regular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07e9612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407e9612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444e75c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60444e75c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381e935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6381e935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6381e935d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66bfe173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666bfe173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666bfe173_3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66bfe173_3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666bfe173_3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666bfe173_3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6bfe173_3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6bfe173_3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666bfe173_3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66bfe173_3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666bfe173_3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666bfe173_3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66bfe173_3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666bfe173_3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666bfe173_3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666bfe173_3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666bfe173_3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666bfe173_3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66bfe173_3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66bfe173_3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666bfe173_3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66bfe173_3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66bfe173_3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666bfe173_3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66bfe173_3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666bfe173_3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666bfe173_3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66bfe173_3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666bfe173_3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666bfe173_3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66bfe173_3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666bfe173_3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666bfe173_3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66bfe173_3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666bfe173_3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666bfe173_3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66bfe173_3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666bfe173_3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666bfe173_3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66bfe173_3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666bfe173_3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666bfe173_3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66aca4bf7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66aca4bf7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66aca4bf7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66aca4bf7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66aca4bf7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66aca4bf7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6aca4bf7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66aca4bf7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66aca4bf7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666bfe173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666bfe173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666bfe173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66bfe173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666bfe173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666bfe173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666bfe173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666bfe173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666bfe173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666bfe173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666bfe173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666bfe173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666bfe173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666bfe173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666bfe173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666bfe173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666bfe173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666bfe173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666bfe173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666bfe173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666bfe173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66aca4bf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66aca4bf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66aca4bf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66aca4bf7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66aca4bf7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66aca4bf7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66aca4bf7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66aca4bf7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66aca4bf7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66aca4bf7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f66aca4bf7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66aca4bf7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6aca4bf7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66aca4bf7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f66aca4bf7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66aca4bf7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66aca4bf7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66aca4bf7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b64993a3c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1b64993a3c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1b64993a3c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b64993a3c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1b64993a3c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g3f635395298_0_94" title="Logo Style 4.png"/>
          <p:cNvPicPr preferRelativeResize="0"/>
          <p:nvPr/>
        </p:nvPicPr>
        <p:blipFill rotWithShape="1">
          <a:blip r:embed="rId2">
            <a:alphaModFix amt="9000"/>
          </a:blip>
          <a:srcRect b="0" l="0" r="51136" t="0"/>
          <a:stretch/>
        </p:blipFill>
        <p:spPr>
          <a:xfrm>
            <a:off x="3541933" y="630672"/>
            <a:ext cx="5108135" cy="57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g3f635395298_0_94"/>
          <p:cNvSpPr/>
          <p:nvPr/>
        </p:nvSpPr>
        <p:spPr>
          <a:xfrm>
            <a:off x="5695951" y="3364100"/>
            <a:ext cx="795300" cy="2934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17" name="Google Shape;17;g3f635395298_0_94"/>
          <p:cNvSpPr txBox="1"/>
          <p:nvPr>
            <p:ph type="ctrTitle"/>
          </p:nvPr>
        </p:nvSpPr>
        <p:spPr>
          <a:xfrm>
            <a:off x="1524000" y="92899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6000"/>
              <a:buFont typeface="Kantumruy Pro SemiBold"/>
              <a:buNone/>
              <a:defRPr sz="6000">
                <a:solidFill>
                  <a:srgbClr val="233D9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635395298_0_94"/>
          <p:cNvSpPr txBox="1"/>
          <p:nvPr>
            <p:ph idx="1" type="subTitle"/>
          </p:nvPr>
        </p:nvSpPr>
        <p:spPr>
          <a:xfrm>
            <a:off x="1524000" y="3922364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1E28"/>
              </a:buClr>
              <a:buSzPts val="3400"/>
              <a:buNone/>
              <a:defRPr sz="3400">
                <a:solidFill>
                  <a:srgbClr val="E11E28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9" name="Google Shape;19;g3f635395298_0_94"/>
          <p:cNvGrpSpPr/>
          <p:nvPr/>
        </p:nvGrpSpPr>
        <p:grpSpPr>
          <a:xfrm>
            <a:off x="5849297" y="3454647"/>
            <a:ext cx="493500" cy="112500"/>
            <a:chOff x="5271247" y="3429000"/>
            <a:chExt cx="493500" cy="112500"/>
          </a:xfrm>
        </p:grpSpPr>
        <p:sp>
          <p:nvSpPr>
            <p:cNvPr id="20" name="Google Shape;20;g3f635395298_0_94"/>
            <p:cNvSpPr/>
            <p:nvPr/>
          </p:nvSpPr>
          <p:spPr>
            <a:xfrm>
              <a:off x="5271247" y="3429000"/>
              <a:ext cx="112500" cy="1125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ntumruy Pro"/>
                <a:ea typeface="Kantumruy Pro"/>
                <a:cs typeface="Kantumruy Pro"/>
                <a:sym typeface="Kantumruy Pro"/>
              </a:endParaRPr>
            </a:p>
          </p:txBody>
        </p:sp>
        <p:sp>
          <p:nvSpPr>
            <p:cNvPr id="21" name="Google Shape;21;g3f635395298_0_94"/>
            <p:cNvSpPr/>
            <p:nvPr/>
          </p:nvSpPr>
          <p:spPr>
            <a:xfrm>
              <a:off x="5461747" y="3429000"/>
              <a:ext cx="112500" cy="1125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ntumruy Pro"/>
                <a:ea typeface="Kantumruy Pro"/>
                <a:cs typeface="Kantumruy Pro"/>
                <a:sym typeface="Kantumruy Pro"/>
              </a:endParaRPr>
            </a:p>
          </p:txBody>
        </p:sp>
        <p:sp>
          <p:nvSpPr>
            <p:cNvPr id="22" name="Google Shape;22;g3f635395298_0_94"/>
            <p:cNvSpPr/>
            <p:nvPr/>
          </p:nvSpPr>
          <p:spPr>
            <a:xfrm>
              <a:off x="5652247" y="3429000"/>
              <a:ext cx="112500" cy="1125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ntumruy Pro"/>
                <a:ea typeface="Kantumruy Pro"/>
                <a:cs typeface="Kantumruy Pro"/>
                <a:sym typeface="Kantumruy Pro"/>
              </a:endParaRPr>
            </a:p>
          </p:txBody>
        </p:sp>
      </p:grpSp>
      <p:sp>
        <p:nvSpPr>
          <p:cNvPr id="23" name="Google Shape;23;g3f635395298_0_94"/>
          <p:cNvSpPr/>
          <p:nvPr/>
        </p:nvSpPr>
        <p:spPr>
          <a:xfrm rot="10072513">
            <a:off x="9022434" y="5945558"/>
            <a:ext cx="3327026" cy="1225009"/>
          </a:xfrm>
          <a:custGeom>
            <a:rect b="b" l="l" r="r" t="t"/>
            <a:pathLst>
              <a:path extrusionOk="0" h="1225250" w="3327681">
                <a:moveTo>
                  <a:pt x="254648" y="0"/>
                </a:moveTo>
                <a:lnTo>
                  <a:pt x="3327681" y="658092"/>
                </a:lnTo>
                <a:lnTo>
                  <a:pt x="3126801" y="671722"/>
                </a:lnTo>
                <a:cubicBezTo>
                  <a:pt x="1888786" y="785813"/>
                  <a:pt x="1508699" y="1241156"/>
                  <a:pt x="455624" y="1224822"/>
                </a:cubicBezTo>
                <a:lnTo>
                  <a:pt x="455624" y="1224822"/>
                </a:lnTo>
                <a:cubicBezTo>
                  <a:pt x="363046" y="1223385"/>
                  <a:pt x="265267" y="1218304"/>
                  <a:pt x="161246" y="1209025"/>
                </a:cubicBezTo>
                <a:lnTo>
                  <a:pt x="0" y="11891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24" name="Google Shape;24;g3f635395298_0_94" title="New Logo iSTAD Full-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9950" y="190859"/>
            <a:ext cx="1773123" cy="6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f635395298_0_94"/>
          <p:cNvPicPr preferRelativeResize="0"/>
          <p:nvPr/>
        </p:nvPicPr>
        <p:blipFill rotWithShape="1">
          <a:blip r:embed="rId4">
            <a:alphaModFix/>
          </a:blip>
          <a:srcRect b="58410" l="12304" r="0" t="6937"/>
          <a:stretch/>
        </p:blipFill>
        <p:spPr>
          <a:xfrm rot="5400000">
            <a:off x="-2884201" y="2876451"/>
            <a:ext cx="7513252" cy="174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g3f635395298_0_94" title="creative-common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39575" y="6411525"/>
            <a:ext cx="1252425" cy="4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f635395298_0_94"/>
          <p:cNvSpPr txBox="1"/>
          <p:nvPr/>
        </p:nvSpPr>
        <p:spPr>
          <a:xfrm>
            <a:off x="8418068" y="6419200"/>
            <a:ext cx="260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រក្សាសិទ្ធិដោយវិទ្យាស្ថាន ISTAD</a:t>
            </a:r>
            <a:endParaRPr b="0" i="0" sz="1600" u="none" cap="none" strike="noStrike">
              <a:solidFill>
                <a:srgbClr val="233D9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635395298_0_10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800"/>
              <a:buFont typeface="Google Sans Medium"/>
              <a:buNone/>
              <a:defRPr sz="2800">
                <a:solidFill>
                  <a:srgbClr val="233D97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635395298_0_108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683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683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683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•"/>
              <a:defRPr sz="22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3D97"/>
              </a:buClr>
              <a:buSzPts val="1800"/>
              <a:buFont typeface="Google Sans"/>
              <a:buChar char="•"/>
              <a:defRPr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1" name="Google Shape;31;g3f635395298_0_108"/>
          <p:cNvSpPr/>
          <p:nvPr/>
        </p:nvSpPr>
        <p:spPr>
          <a:xfrm>
            <a:off x="-1" y="0"/>
            <a:ext cx="104700" cy="6858000"/>
          </a:xfrm>
          <a:prstGeom prst="rect">
            <a:avLst/>
          </a:prstGeom>
          <a:solidFill>
            <a:srgbClr val="233D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32" name="Google Shape;32;g3f635395298_0_108" title="Logo Style 4.png"/>
          <p:cNvPicPr preferRelativeResize="0"/>
          <p:nvPr/>
        </p:nvPicPr>
        <p:blipFill rotWithShape="1">
          <a:blip r:embed="rId2">
            <a:alphaModFix amt="9000"/>
          </a:blip>
          <a:srcRect b="0" l="0" r="51136" t="0"/>
          <a:stretch/>
        </p:blipFill>
        <p:spPr>
          <a:xfrm>
            <a:off x="3541933" y="630672"/>
            <a:ext cx="5108135" cy="57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f635395298_0_108" title="New Logo iSTAD Full-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9950" y="190859"/>
            <a:ext cx="1773123" cy="6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g3f635395298_0_108"/>
          <p:cNvSpPr/>
          <p:nvPr/>
        </p:nvSpPr>
        <p:spPr>
          <a:xfrm>
            <a:off x="0" y="0"/>
            <a:ext cx="104700" cy="314700"/>
          </a:xfrm>
          <a:prstGeom prst="rect">
            <a:avLst/>
          </a:prstGeom>
          <a:solidFill>
            <a:srgbClr val="E11E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5" name="Google Shape;35;g3f635395298_0_108"/>
          <p:cNvSpPr/>
          <p:nvPr/>
        </p:nvSpPr>
        <p:spPr>
          <a:xfrm>
            <a:off x="44725" y="437225"/>
            <a:ext cx="349500" cy="191400"/>
          </a:xfrm>
          <a:prstGeom prst="roundRect">
            <a:avLst>
              <a:gd fmla="val 16667" name="adj"/>
            </a:avLst>
          </a:prstGeom>
          <a:solidFill>
            <a:srgbClr val="233D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6" name="Google Shape;36;g3f635395298_0_108"/>
          <p:cNvSpPr/>
          <p:nvPr/>
        </p:nvSpPr>
        <p:spPr>
          <a:xfrm>
            <a:off x="240950" y="354750"/>
            <a:ext cx="126600" cy="126600"/>
          </a:xfrm>
          <a:prstGeom prst="ellipse">
            <a:avLst/>
          </a:prstGeom>
          <a:solidFill>
            <a:srgbClr val="E11E2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7" name="Google Shape;37;g3f635395298_0_108"/>
          <p:cNvSpPr/>
          <p:nvPr/>
        </p:nvSpPr>
        <p:spPr>
          <a:xfrm>
            <a:off x="123859" y="314675"/>
            <a:ext cx="104700" cy="1047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8" name="Google Shape;38;g3f635395298_0_108"/>
          <p:cNvSpPr/>
          <p:nvPr/>
        </p:nvSpPr>
        <p:spPr>
          <a:xfrm>
            <a:off x="129300" y="532725"/>
            <a:ext cx="238200" cy="62400"/>
          </a:xfrm>
          <a:prstGeom prst="roundRect">
            <a:avLst>
              <a:gd fmla="val 178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39" name="Google Shape;39;g3f635395298_0_108"/>
          <p:cNvSpPr txBox="1"/>
          <p:nvPr/>
        </p:nvSpPr>
        <p:spPr>
          <a:xfrm>
            <a:off x="9869161" y="6452213"/>
            <a:ext cx="1008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0" name="Google Shape;40;g3f635395298_0_108" title="creative-common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9575" y="6411525"/>
            <a:ext cx="1252425" cy="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635395298_0_1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f635395298_0_1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f635395298_0_1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f635395298_0_148"/>
          <p:cNvSpPr/>
          <p:nvPr/>
        </p:nvSpPr>
        <p:spPr>
          <a:xfrm>
            <a:off x="2958718" y="2229450"/>
            <a:ext cx="1753800" cy="209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635395298_0_12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Kantumruy Pro SemiBold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635395298_0_12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g3f635395298_0_1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f635395298_0_1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635395298_0_1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35395298_0_1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f635395298_0_12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f635395298_0_12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g3f635395298_0_1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635395298_0_1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635395298_0_1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35395298_0_13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635395298_0_13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g3f635395298_0_13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f635395298_0_13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g3f635395298_0_13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g3f635395298_0_1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635395298_0_1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f635395298_0_1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35395298_0_1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635395298_0_1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f635395298_0_1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f635395298_0_1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35395298_0_15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tumruy Pro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f635395298_0_15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g3f635395298_0_15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g3f635395298_0_1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f635395298_0_1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f635395298_0_1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35395298_0_15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Kantumruy Pro SemiBold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635395298_0_159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g3f635395298_0_159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g3f635395298_0_15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f635395298_0_15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635395298_0_1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35395298_0_1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635395298_0_166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g3f635395298_0_1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f635395298_0_1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635395298_0_1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35395298_0_17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635395298_0_17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g3f635395298_0_17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f635395298_0_17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635395298_0_1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635395298_0_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Kantumruy Pro SemiBold"/>
              <a:buNone/>
              <a:defRPr b="0" i="0" sz="4400" u="none" cap="none" strike="noStrike">
                <a:solidFill>
                  <a:schemeClr val="dk1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635395298_0_8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9pPr>
          </a:lstStyle>
          <a:p/>
        </p:txBody>
      </p:sp>
      <p:sp>
        <p:nvSpPr>
          <p:cNvPr id="12" name="Google Shape;12;g3f635395298_0_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9pPr>
          </a:lstStyle>
          <a:p/>
        </p:txBody>
      </p:sp>
      <p:sp>
        <p:nvSpPr>
          <p:cNvPr id="13" name="Google Shape;13;g3f635395298_0_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kora"/>
                <a:ea typeface="Nokora"/>
                <a:cs typeface="Nokora"/>
                <a:sym typeface="Nok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Relationship Id="rId4" Type="http://schemas.openxmlformats.org/officeDocument/2006/relationships/image" Target="../media/image34.jpg"/><Relationship Id="rId5" Type="http://schemas.openxmlformats.org/officeDocument/2006/relationships/image" Target="../media/image25.png"/><Relationship Id="rId6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07e961291_0_0"/>
          <p:cNvSpPr txBox="1"/>
          <p:nvPr>
            <p:ph type="ctrTitle"/>
          </p:nvPr>
        </p:nvSpPr>
        <p:spPr>
          <a:xfrm>
            <a:off x="1524000" y="167909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ct val="100000"/>
              <a:buFont typeface="Arial"/>
              <a:buNone/>
            </a:pP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HTML - Part 1</a:t>
            </a:r>
            <a:br>
              <a:rPr b="1" lang="en-US">
                <a:latin typeface="Google Sans"/>
                <a:ea typeface="Google Sans"/>
                <a:cs typeface="Google Sans"/>
                <a:sym typeface="Google Sans"/>
              </a:rPr>
            </a:b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(Hyper Markup Language)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4" name="Google Shape;104;g3407e961291_0_0"/>
          <p:cNvSpPr txBox="1"/>
          <p:nvPr>
            <p:ph idx="1" type="subTitle"/>
          </p:nvPr>
        </p:nvSpPr>
        <p:spPr>
          <a:xfrm>
            <a:off x="3417300" y="4372425"/>
            <a:ext cx="53574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1E28"/>
              </a:buClr>
              <a:buSzPts val="3400"/>
              <a:buNone/>
            </a:pP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Subject : Front-end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g3407e961291_0_0"/>
          <p:cNvSpPr txBox="1"/>
          <p:nvPr/>
        </p:nvSpPr>
        <p:spPr>
          <a:xfrm>
            <a:off x="105652" y="6382350"/>
            <a:ext cx="41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បង្រៀនដោយ៖ </a:t>
            </a:r>
            <a:r>
              <a:rPr lang="en-US" sz="1600">
                <a:solidFill>
                  <a:srgbClr val="233D97"/>
                </a:solidFill>
                <a:latin typeface="Google Sans"/>
                <a:ea typeface="Google Sans"/>
                <a:cs typeface="Google Sans"/>
                <a:sym typeface="Google Sans"/>
              </a:rPr>
              <a:t>អ្នកគ្រូ ស្រ៊ង​ សុខជាតិ</a:t>
            </a:r>
            <a:endParaRPr b="0" i="0" sz="1600" u="none" cap="none" strike="noStrike">
              <a:solidFill>
                <a:srgbClr val="233D9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0444e75c4_0_6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800"/>
              <a:buFont typeface="Kantumruy Pro SemiBold"/>
              <a:buNone/>
            </a:pPr>
            <a:r>
              <a:rPr b="1" lang="en-US">
                <a:latin typeface="Google Sans"/>
                <a:ea typeface="Google Sans"/>
                <a:cs typeface="Google Sans"/>
                <a:sym typeface="Google Sans"/>
              </a:rPr>
              <a:t>មាតិកា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g360444e75c4_0_6"/>
          <p:cNvSpPr txBox="1"/>
          <p:nvPr>
            <p:ph idx="1" type="body"/>
          </p:nvPr>
        </p:nvSpPr>
        <p:spPr>
          <a:xfrm>
            <a:off x="735623" y="834978"/>
            <a:ext cx="11185800" cy="4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ct val="100000"/>
              <a:buAutoNum type="arabicPeriod"/>
            </a:pPr>
            <a:r>
              <a:rPr lang="en-US" sz="8800"/>
              <a:t>HTML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ct val="100000"/>
              <a:buAutoNum type="arabicPeriod"/>
            </a:pPr>
            <a:r>
              <a:rPr lang="en-US" sz="8800"/>
              <a:t>Basic Terminology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HTML Editors 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Construction of Web Page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Core Tags in HTML 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Adding Content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HTML Basic Style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HTML Image and File Path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Icons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Block and Inline</a:t>
            </a:r>
            <a:endParaRPr sz="88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8800"/>
              <a:t>Semantic and Accessibility  </a:t>
            </a:r>
            <a:endParaRPr sz="88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800"/>
              <a:t>11.1.  Understanding semantic HTML and its benefits</a:t>
            </a:r>
            <a:endParaRPr sz="88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800"/>
              <a:t>11.2. Using semantic elements (header, nav, section, article, footer)</a:t>
            </a:r>
            <a:endParaRPr sz="88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800"/>
              <a:t>11.3. Enhancing accessibility with proper markup</a:t>
            </a:r>
            <a:endParaRPr sz="88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800"/>
              <a:t>11.4. Improving SEO with semantic HTML</a:t>
            </a:r>
            <a:endParaRPr sz="88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800"/>
              <a:t>11.5. Build Layout with semantic Tags</a:t>
            </a:r>
            <a:endParaRPr sz="8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381e935d_0_15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sz="3000"/>
              <a:t>HTML</a:t>
            </a:r>
            <a:endParaRPr sz="3000"/>
          </a:p>
        </p:txBody>
      </p:sp>
      <p:sp>
        <p:nvSpPr>
          <p:cNvPr id="118" name="Google Shape;118;g3f6381e935d_0_15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HTML(</a:t>
            </a:r>
            <a:r>
              <a:rPr b="1" lang="en-US">
                <a:solidFill>
                  <a:srgbClr val="233D97"/>
                </a:solidFill>
              </a:rPr>
              <a:t>H</a:t>
            </a:r>
            <a:r>
              <a:rPr lang="en-US">
                <a:solidFill>
                  <a:srgbClr val="233D97"/>
                </a:solidFill>
              </a:rPr>
              <a:t>yper</a:t>
            </a:r>
            <a:r>
              <a:rPr b="1" lang="en-US">
                <a:solidFill>
                  <a:srgbClr val="233D97"/>
                </a:solidFill>
              </a:rPr>
              <a:t>T</a:t>
            </a:r>
            <a:r>
              <a:rPr lang="en-US">
                <a:solidFill>
                  <a:srgbClr val="233D97"/>
                </a:solidFill>
              </a:rPr>
              <a:t>ext </a:t>
            </a:r>
            <a:r>
              <a:rPr b="1" lang="en-US">
                <a:solidFill>
                  <a:srgbClr val="233D97"/>
                </a:solidFill>
              </a:rPr>
              <a:t>M</a:t>
            </a:r>
            <a:r>
              <a:rPr lang="en-US">
                <a:solidFill>
                  <a:srgbClr val="233D97"/>
                </a:solidFill>
              </a:rPr>
              <a:t>arkup </a:t>
            </a:r>
            <a:r>
              <a:rPr b="1" lang="en-US">
                <a:solidFill>
                  <a:srgbClr val="233D97"/>
                </a:solidFill>
              </a:rPr>
              <a:t>L</a:t>
            </a:r>
            <a:r>
              <a:rPr lang="en-US">
                <a:solidFill>
                  <a:srgbClr val="233D97"/>
                </a:solidFill>
              </a:rPr>
              <a:t>anguage</a:t>
            </a:r>
            <a:r>
              <a:rPr lang="en-US">
                <a:solidFill>
                  <a:srgbClr val="233D97"/>
                </a:solidFill>
              </a:rPr>
              <a:t>)គឺជា </a:t>
            </a:r>
            <a:r>
              <a:rPr b="1" lang="en-US">
                <a:solidFill>
                  <a:srgbClr val="233D97"/>
                </a:solidFill>
              </a:rPr>
              <a:t>standard markup language</a:t>
            </a:r>
            <a:r>
              <a:rPr lang="en-US">
                <a:solidFill>
                  <a:srgbClr val="233D97"/>
                </a:solidFill>
              </a:rPr>
              <a:t> ដែលត្រូវបានប្រើសម្រាប់បង្កើតទៅលើ Web page។ វាមិនមែនជា programming language ដូច Java ឬ JavaScript នោះទេ ព្រោះវាមិនមាន logic, loop ឬ condition ឡើយ។ តួនាទីចម្បងរបស់វាគឺកំណត់នូវ </a:t>
            </a:r>
            <a:r>
              <a:rPr b="1" lang="en-US">
                <a:solidFill>
                  <a:srgbClr val="233D97"/>
                </a:solidFill>
              </a:rPr>
              <a:t>Structure</a:t>
            </a:r>
            <a:r>
              <a:rPr lang="en-US">
                <a:solidFill>
                  <a:srgbClr val="233D97"/>
                </a:solidFill>
              </a:rPr>
              <a:t> និង </a:t>
            </a:r>
            <a:r>
              <a:rPr b="1" lang="en-US">
                <a:solidFill>
                  <a:srgbClr val="233D97"/>
                </a:solidFill>
              </a:rPr>
              <a:t>Content</a:t>
            </a:r>
            <a:r>
              <a:rPr lang="en-US">
                <a:solidFill>
                  <a:srgbClr val="233D97"/>
                </a:solidFill>
              </a:rPr>
              <a:t> នៃគេហទំព័រ ដោយប្រើប្រាស់សមាធាតុ (elements) ដូចជា headings, paragraphs, images និង links ជាដើម។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</p:txBody>
      </p:sp>
      <p:pic>
        <p:nvPicPr>
          <p:cNvPr id="119" name="Google Shape;119;g3f6381e935d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775" y="3176013"/>
            <a:ext cx="5743575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6381e935d_0_15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6bfe173_3_4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r>
              <a:rPr lang="en-US" sz="2750"/>
              <a:t>. BasicTerminology</a:t>
            </a:r>
            <a:endParaRPr sz="2400"/>
          </a:p>
        </p:txBody>
      </p:sp>
      <p:sp>
        <p:nvSpPr>
          <p:cNvPr id="127" name="Google Shape;127;g3f666bfe173_3_4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មុននឹងចាប់ផ្តើមសរសេរកូដ យើងត្រូវយល់ពីពាក្យបច្ចេកទេសមូលដ្ឋានជាមុនសិន។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តើ Tag និង Element ខុសគ្នាយ៉ាងណា?</a:t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Arial"/>
              <a:buChar char="●"/>
            </a:pPr>
            <a:r>
              <a:rPr lang="en-US">
                <a:solidFill>
                  <a:srgbClr val="233D97"/>
                </a:solidFill>
              </a:rPr>
              <a:t>Tag សំដៅលើសញ្ញាបើក &lt;p&gt; និងសញ្ញាបិទ &lt;/p&gt; តែប៉ុណ្ណោះ</a:t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Arial"/>
              <a:buChar char="●"/>
            </a:pPr>
            <a:r>
              <a:rPr lang="en-US">
                <a:solidFill>
                  <a:srgbClr val="233D97"/>
                </a:solidFill>
              </a:rPr>
              <a:t>Element សំដៅលើ opening tag + content + closing tag ទាំងមូល</a:t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Arial"/>
              <a:buChar char="●"/>
            </a:pPr>
            <a:r>
              <a:rPr lang="en-US">
                <a:solidFill>
                  <a:srgbClr val="233D97"/>
                </a:solidFill>
              </a:rPr>
              <a:t>Attribute គឺជាព័ត៌មានបន្ថែមដែលដាក់នៅក្នុង opening tag ក្នុងទម្រង់ name="value"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g3f666bfe173_3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2475" y="3990550"/>
            <a:ext cx="4796900" cy="135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666bfe173_3_4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66bfe173_3_1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r>
              <a:rPr lang="en-US" sz="2750"/>
              <a:t>. Basic Terminology</a:t>
            </a:r>
            <a:endParaRPr/>
          </a:p>
        </p:txBody>
      </p:sp>
      <p:sp>
        <p:nvSpPr>
          <p:cNvPr id="136" name="Google Shape;136;g3f666bfe173_3_12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Nesting (ការដាក់ element ក្នុង element):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ពេលដែលយើងដាក់ element មួយនៅក្នុង element មួយទៀត យើងត្រូវបិទតាមលំដាប់ត្រឡប់ក្រោយ បើមិនដូច្នេះទេ browser នឹងបកស្រាយកូដខុសពីអ្វីដែលយើងចង់បាន។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Void Elements: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Element មួយចំនួនគ្មាន content និងគ្មាន closing tag ដែលគេហៅថា void elements រួមមាន៖ &lt;br&gt; &lt;hr&gt; &lt;img&gt; &lt;input&gt; &lt;meta&gt; និង &lt;link&gt; ជាដើម។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g3f666bfe173_3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475" y="3977888"/>
            <a:ext cx="43624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666bfe173_3_12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66bfe173_3_21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HTML Editor</a:t>
            </a:r>
            <a:endParaRPr/>
          </a:p>
        </p:txBody>
      </p:sp>
      <p:sp>
        <p:nvSpPr>
          <p:cNvPr id="145" name="Google Shape;145;g3f666bfe173_3_21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ដើម្បីសរសេរកូដ HTML យើងអាចប្រើកម្មវិធីណាមួយក៏បាន សូម្បីតែ Notepad ធម្មតា។ ប៉ុន្តែដើម្បីឱ្យការសរសេរកូដមានប្រសិទ្ធភាព គេនិយមប្រើ Editor ដែលមានមុខងារជំនួយ។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Visual Studio Code (VS Code) គឺជា open source editor ដ៏ពេញនិយម ដែលមានលក្ខណៈ៖</a:t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●"/>
            </a:pPr>
            <a:r>
              <a:rPr lang="en-US">
                <a:solidFill>
                  <a:srgbClr val="233D97"/>
                </a:solidFill>
              </a:rPr>
              <a:t>Free និង Open-source</a:t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●"/>
            </a:pPr>
            <a:r>
              <a:rPr lang="en-US">
                <a:solidFill>
                  <a:srgbClr val="233D97"/>
                </a:solidFill>
              </a:rPr>
              <a:t>Lightweight និង highly customizable</a:t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200"/>
              <a:buFont typeface="Google Sans"/>
              <a:buChar char="●"/>
            </a:pPr>
            <a:r>
              <a:rPr lang="en-US">
                <a:solidFill>
                  <a:srgbClr val="233D97"/>
                </a:solidFill>
              </a:rPr>
              <a:t>ផ្តល់នូវ extensions ជាច្រើនដែលជួយសម្រួលដល់ការសរសេរកូដ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Editor ផ្សេងទៀតដែលគេនិយមប្រើមាន WebStorm, Sublime Text និង Notepad++។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g3f666bfe173_3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700" y="4461800"/>
            <a:ext cx="4726849" cy="24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666bfe173_3_21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66bfe173_3_2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HTML Editor</a:t>
            </a:r>
            <a:endParaRPr/>
          </a:p>
        </p:txBody>
      </p:sp>
      <p:sp>
        <p:nvSpPr>
          <p:cNvPr id="154" name="Google Shape;154;g3f666bfe173_3_29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ផ្នែកបន្ថែម (Extension) ដែលគួរដំឡើង: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Emmet គឺជាមុខងារដែលភ្ជាប់មកជាមួយ VS Code ស្រាប់។ ដោយគ្រាន់តែវាយសញ្ញា ! រួចចុច Tab នោះ VS Code នឹងបង្កើត HTML boilerplate ទាំងមូលឱ្យយើងភ្លាមៗ។ </a:t>
            </a:r>
            <a:endParaRPr>
              <a:solidFill>
                <a:srgbClr val="233D97"/>
              </a:solidFill>
            </a:endParaRPr>
          </a:p>
        </p:txBody>
      </p:sp>
      <p:pic>
        <p:nvPicPr>
          <p:cNvPr id="155" name="Google Shape;155;g3f666bfe173_3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25" y="1839525"/>
            <a:ext cx="9165825" cy="29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666bfe173_3_29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66bfe173_3_3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Google Sans"/>
                <a:ea typeface="Google Sans"/>
                <a:cs typeface="Google Sans"/>
                <a:sym typeface="Google Sans"/>
              </a:rPr>
              <a:t>4. Construction of Web Page</a:t>
            </a:r>
            <a:endParaRPr sz="30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3" name="Google Shape;163;g3f666bfe173_3_38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HTML គ្រប់រូបត្រូវបានបែងចែកជាពីរផ្នែកធំៗ គឺ &lt;head&gt; និង &lt;body&gt;។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ផ្នែក &lt;head&gt; ផ្ទុកនូវព័ត៌មានអំពីឯកសារ (metadata) ដែលអ្នកប្រើប្រាស់មិនមើលឃើញដោយផ្ទាល់ ប៉ុន្តែមានសារៈសំខាន់សម្រាប់ browser និង search engine។ ចំណែក &lt;body&gt; ផ្ទុកនូវមាតិកាទាំងអស់ដែលបង្ហាញនៅលើអេក្រង់។  </a:t>
            </a:r>
            <a:endParaRPr>
              <a:solidFill>
                <a:srgbClr val="233D97"/>
              </a:solidFill>
            </a:endParaRPr>
          </a:p>
        </p:txBody>
      </p:sp>
      <p:pic>
        <p:nvPicPr>
          <p:cNvPr id="164" name="Google Shape;164;g3f666bfe173_3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8724" y="3193875"/>
            <a:ext cx="4792601" cy="28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f666bfe173_3_38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66bfe173_3_47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Google Sans"/>
                <a:ea typeface="Google Sans"/>
                <a:cs typeface="Google Sans"/>
                <a:sym typeface="Google Sans"/>
              </a:rPr>
              <a:t>4. Construction of Web Page</a:t>
            </a:r>
            <a:endParaRPr/>
          </a:p>
        </p:txBody>
      </p:sp>
      <p:sp>
        <p:nvSpPr>
          <p:cNvPr id="172" name="Google Shape;172;g3f666bfe173_3_47"/>
          <p:cNvSpPr txBox="1"/>
          <p:nvPr>
            <p:ph idx="1" type="body"/>
          </p:nvPr>
        </p:nvSpPr>
        <p:spPr>
          <a:xfrm>
            <a:off x="735623" y="1478753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200"/>
              <a:buChar char="•"/>
            </a:pPr>
            <a:r>
              <a:rPr lang="en-US">
                <a:solidFill>
                  <a:srgbClr val="233D97"/>
                </a:solidFill>
              </a:rPr>
              <a:t>viewport គឺចាំបាច់ណាស់សម្រាប់ធ្វើឱ្យគេហទំព័រមានលក្ខណៈ responsive នៅលើទូរស័ព្ទ</a:t>
            </a:r>
            <a:endParaRPr>
              <a:solidFill>
                <a:srgbClr val="233D97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200"/>
              <a:buChar char="•"/>
            </a:pPr>
            <a:r>
              <a:rPr lang="en-US">
                <a:solidFill>
                  <a:srgbClr val="233D97"/>
                </a:solidFill>
              </a:rPr>
              <a:t>description គឺជាអត្ថបទដែលបង្ហាញនៅក្នុងលទ្ធផលស្វែងរករបស់ Google</a:t>
            </a:r>
            <a:endParaRPr>
              <a:solidFill>
                <a:srgbClr val="233D97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200"/>
              <a:buChar char="•"/>
            </a:pPr>
            <a:r>
              <a:rPr lang="en-US">
                <a:solidFill>
                  <a:srgbClr val="233D97"/>
                </a:solidFill>
              </a:rPr>
              <a:t>defer ធ្វើឱ្យ script មិន block ការ parse HTML</a:t>
            </a:r>
            <a:endParaRPr/>
          </a:p>
        </p:txBody>
      </p:sp>
      <p:pic>
        <p:nvPicPr>
          <p:cNvPr id="173" name="Google Shape;173;g3f666bfe173_3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463" y="717625"/>
            <a:ext cx="7527376" cy="27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666bfe173_3_47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66bfe173_3_55"/>
          <p:cNvSpPr txBox="1"/>
          <p:nvPr>
            <p:ph type="title"/>
          </p:nvPr>
        </p:nvSpPr>
        <p:spPr>
          <a:xfrm>
            <a:off x="503750" y="1524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Core Tags in HTML </a:t>
            </a:r>
            <a:endParaRPr/>
          </a:p>
        </p:txBody>
      </p:sp>
      <p:sp>
        <p:nvSpPr>
          <p:cNvPr id="181" name="Google Shape;181;g3f666bfe173_3_55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Headings និង Paragraphs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HTML ផ្តល់នូវ heading ចំនួន ៦ កម្រិត ចាប់ពី &lt;h1&gt; ដល់ &lt;h6&gt; ដែលបង្ហាញពីលំដាប់សារៈសំខាន់នៃមាតិកា។ ក្នុងមួយទំព័រយើងគួរប្រើ &lt;h1&gt; តែមួយប៉ុណ្ណោះ ដែលតំណាងឱ្យប្រធានបទចម្បង។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g3f666bfe173_3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925" y="3129155"/>
            <a:ext cx="4517775" cy="24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666bfe173_3_55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666bfe173_3_6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Core Tags in HTML </a:t>
            </a:r>
            <a:endParaRPr/>
          </a:p>
        </p:txBody>
      </p:sp>
      <p:sp>
        <p:nvSpPr>
          <p:cNvPr id="190" name="Google Shape;190;g3f666bfe173_3_63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oogle Sans Medium"/>
                <a:ea typeface="Google Sans Medium"/>
                <a:cs typeface="Google Sans Medium"/>
                <a:sym typeface="Google Sans Medium"/>
              </a:rPr>
              <a:t>Text Formatting: Semantic ធៀបនឹង Visual: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ភាពខុសគ្នាគឺ &lt;strong&gt; និង &lt;em&gt; ផ្តល់នូវ អត្ថន័យ ដល់ screen reader ខណៈដែល &lt;b&gt; និង &lt;i&gt; គ្រាន់តែផ្លាស់ប្តូររូបរាងតែប៉ុណ្ណោះ។ </a:t>
            </a:r>
            <a:r>
              <a:rPr lang="en-US" sz="2800"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sz="2800"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91" name="Google Shape;191;g3f666bfe173_3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2151075"/>
            <a:ext cx="84963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666bfe173_3_63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66bfe173_3_7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Core Tags in HTML</a:t>
            </a:r>
            <a:endParaRPr/>
          </a:p>
        </p:txBody>
      </p:sp>
      <p:sp>
        <p:nvSpPr>
          <p:cNvPr id="199" name="Google Shape;199;g3f666bfe173_3_73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Lists: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-US">
                <a:solidFill>
                  <a:srgbClr val="233D97"/>
                </a:solidFill>
              </a:rPr>
              <a:t>យើងប្រើ &lt;ul&gt; នៅពេលដែលលំដាប់នៃធាតុមិនសំខាន់ ដូចជាបញ្ជីមុខវិជ្ជា។ ចំណែក &lt;ol&gt; ប្រើនៅពេលដែលលំដាប់មានសារៈសំខាន់ ដូចជាជំហាននៃការដំឡើងកម្មវិធីជាដើម។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</p:txBody>
      </p:sp>
      <p:pic>
        <p:nvPicPr>
          <p:cNvPr id="200" name="Google Shape;200;g3f666bfe173_3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725" y="1162225"/>
            <a:ext cx="43624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f666bfe173_3_73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66bfe173_3_8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Core Tags in HTML</a:t>
            </a:r>
            <a:endParaRPr/>
          </a:p>
        </p:txBody>
      </p:sp>
      <p:sp>
        <p:nvSpPr>
          <p:cNvPr id="208" name="Google Shape;208;g3f666bfe173_3_83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Links (&lt;a&gt; element):Link គឺជាមូលដ្ឋានគ្រឹះនៃពាក្យ "HyperText" ក្នុង HTML ព្រោះវាអនុញ្ញាតឱ្យទំព័រនីមួយៗភ្ជាប់ទៅគ្នា។ </a:t>
            </a:r>
            <a:endParaRPr>
              <a:solidFill>
                <a:srgbClr val="233D97"/>
              </a:solidFill>
            </a:endParaRPr>
          </a:p>
        </p:txBody>
      </p:sp>
      <p:pic>
        <p:nvPicPr>
          <p:cNvPr id="209" name="Google Shape;209;g3f666bfe173_3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475" y="2286000"/>
            <a:ext cx="763905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666bfe173_3_83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66bfe173_3_9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 Adding Content</a:t>
            </a:r>
            <a:endParaRPr/>
          </a:p>
        </p:txBody>
      </p:sp>
      <p:sp>
        <p:nvSpPr>
          <p:cNvPr id="217" name="Google Shape;217;g3f666bfe173_3_92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រូបភាព (Images):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Attribute alt គឺចាំបាច់ជានិច្ច ព្រោះវាមានតួនាទីបីយ៉ាង៖ ជួយ screen reader អានឱ្យអ្នកពិការភ្នែក ជួយបង្កើនប្រសិទ្ធភាព SEO និងបង្ហាញអត្ថបទជំនួសនៅពេលរូបភាពផ្ទុកមិនបាន។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File Path: </a:t>
            </a:r>
            <a:endParaRPr>
              <a:solidFill>
                <a:srgbClr val="233D97"/>
              </a:solidFill>
            </a:endParaRPr>
          </a:p>
        </p:txBody>
      </p:sp>
      <p:pic>
        <p:nvPicPr>
          <p:cNvPr id="218" name="Google Shape;218;g3f666bfe173_3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688" y="1379263"/>
            <a:ext cx="431482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666bfe173_3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2338" y="3996250"/>
            <a:ext cx="62388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f666bfe173_3_92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66bfe173_3_10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6. Adding Content</a:t>
            </a:r>
            <a:endParaRPr/>
          </a:p>
        </p:txBody>
      </p:sp>
      <p:sp>
        <p:nvSpPr>
          <p:cNvPr id="227" name="Google Shape;227;g3f666bfe173_3_103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តារាង (Tables):</a:t>
            </a:r>
            <a:r>
              <a:rPr lang="en-US">
                <a:solidFill>
                  <a:srgbClr val="233D97"/>
                </a:solidFill>
              </a:rPr>
              <a:t>តារាងត្រូវបានប្រើសម្រាប់បង្ហាញ ទិន្នន័យ ដែលមានទំនាក់ទំនងគ្នាតែប៉ុណ្ណោះ។ កាលពីមុនគេធ្លាប់ប្រើតារាងសម្រាប់រៀបចំ layout ប៉ុន្តែសព្វថ្ងៃវាមិនត្រូវបានណែនាំទៀតទេ ព្រោះយើងមាន CSS Flexbox និង Grid ជំនួសវិញ។</a:t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33D9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g3f666bfe173_3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4425" y="2250913"/>
            <a:ext cx="5953125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666bfe173_3_103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66bfe173_3_11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 Adding Content</a:t>
            </a:r>
            <a:endParaRPr/>
          </a:p>
        </p:txBody>
      </p:sp>
      <p:sp>
        <p:nvSpPr>
          <p:cNvPr id="236" name="Google Shape;236;g3f666bfe173_3_112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ទម្រង់ (Forms):Form គឺជាមធ្យោបាយសំខាន់បំផុតសម្រាប់ការទទួលយកទិន្នន័យពីអ្នកប្រើប្រាស់ រួចផ្ញើទៅកាន់ server។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D97"/>
                </a:solidFill>
              </a:rPr>
              <a:t>Attribute for របស់ &lt;label&gt; ត្រូវតែផ្គូផ្គងនឹង id របស់ &lt;input&gt; ដើម្បីឱ្យ screen reader យល់ថា label នេះជាកម្មសិទ្ធិរបស់ input ណាមួយ។ </a:t>
            </a:r>
            <a:r>
              <a:rPr lang="en-US"/>
              <a:t>  </a:t>
            </a:r>
            <a:endParaRPr/>
          </a:p>
        </p:txBody>
      </p:sp>
      <p:pic>
        <p:nvPicPr>
          <p:cNvPr id="237" name="Google Shape;237;g3f666bfe173_3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147" y="1815084"/>
            <a:ext cx="5005975" cy="30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666bfe173_3_112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66bfe173_3_11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6. Adding Content</a:t>
            </a:r>
            <a:endParaRPr/>
          </a:p>
        </p:txBody>
      </p:sp>
      <p:sp>
        <p:nvSpPr>
          <p:cNvPr id="245" name="Google Shape;245;g3f666bfe173_3_119"/>
          <p:cNvSpPr txBox="1"/>
          <p:nvPr>
            <p:ph idx="1" type="body"/>
          </p:nvPr>
        </p:nvSpPr>
        <p:spPr>
          <a:xfrm>
            <a:off x="735648" y="1162228"/>
            <a:ext cx="11185800" cy="47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ប្រភេទនៃ Input:</a:t>
            </a:r>
            <a:endParaRPr/>
          </a:p>
        </p:txBody>
      </p:sp>
      <p:pic>
        <p:nvPicPr>
          <p:cNvPr id="246" name="Google Shape;246;g3f666bfe173_3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438" y="2001750"/>
            <a:ext cx="8048625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f666bfe173_3_119"/>
          <p:cNvSpPr txBox="1"/>
          <p:nvPr/>
        </p:nvSpPr>
        <p:spPr>
          <a:xfrm>
            <a:off x="8063100" y="6317700"/>
            <a:ext cx="3118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rPr lang="en-US" sz="182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រៀបរៀងដោយ​ : ឆោម​ ទិត្យសិលា</a:t>
            </a:r>
            <a:endParaRPr sz="1820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66aca4bf7_1_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7</a:t>
            </a:r>
            <a:r>
              <a:rPr lang="en-US" sz="3000"/>
              <a:t>.   HTML Basic Style</a:t>
            </a:r>
            <a:endParaRPr sz="3000"/>
          </a:p>
        </p:txBody>
      </p:sp>
      <p:sp>
        <p:nvSpPr>
          <p:cNvPr id="254" name="Google Shape;254;g3f66aca4bf7_1_9"/>
          <p:cNvSpPr txBox="1"/>
          <p:nvPr>
            <p:ph idx="1" type="body"/>
          </p:nvPr>
        </p:nvSpPr>
        <p:spPr>
          <a:xfrm>
            <a:off x="619675" y="1049247"/>
            <a:ext cx="11185800" cy="81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15">
                <a:solidFill>
                  <a:srgbClr val="FF0000"/>
                </a:solidFill>
              </a:rPr>
              <a:t>HTML Basic Style : </a:t>
            </a:r>
            <a:r>
              <a:rPr lang="en-US" sz="2515">
                <a:solidFill>
                  <a:srgbClr val="233D97"/>
                </a:solidFill>
              </a:rPr>
              <a:t>ជារបៀបដែលយើងកំណត់ប្រើប្រាស់ CSS ទៅក្នុង HTML ដើម្បីកែប្រែនិងធ្វើឲ Website របស់យើងមានរចនាបថកាន់តែទាក់ទាញ។</a:t>
            </a:r>
            <a:endParaRPr sz="2005">
              <a:solidFill>
                <a:srgbClr val="233D97"/>
              </a:solidFill>
            </a:endParaRPr>
          </a:p>
        </p:txBody>
      </p:sp>
      <p:sp>
        <p:nvSpPr>
          <p:cNvPr id="255" name="Google Shape;255;g3f66aca4bf7_1_9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256" name="Google Shape;256;g3f66aca4bf7_1_9"/>
          <p:cNvSpPr txBox="1"/>
          <p:nvPr>
            <p:ph idx="1" type="body"/>
          </p:nvPr>
        </p:nvSpPr>
        <p:spPr>
          <a:xfrm>
            <a:off x="735800" y="1862249"/>
            <a:ext cx="11185800" cy="53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15">
                <a:solidFill>
                  <a:srgbClr val="233D97"/>
                </a:solidFill>
              </a:rPr>
              <a:t>របៀបនៃការប្រើប្រាស់ Style មាន3របៀបគឺ</a:t>
            </a:r>
            <a:endParaRPr sz="2005">
              <a:solidFill>
                <a:srgbClr val="233D97"/>
              </a:solidFill>
            </a:endParaRPr>
          </a:p>
        </p:txBody>
      </p:sp>
      <p:cxnSp>
        <p:nvCxnSpPr>
          <p:cNvPr id="257" name="Google Shape;257;g3f66aca4bf7_1_9"/>
          <p:cNvCxnSpPr>
            <a:stCxn id="256" idx="2"/>
          </p:cNvCxnSpPr>
          <p:nvPr/>
        </p:nvCxnSpPr>
        <p:spPr>
          <a:xfrm rot="5400000">
            <a:off x="4109450" y="514199"/>
            <a:ext cx="339900" cy="409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g3f66aca4bf7_1_9"/>
          <p:cNvCxnSpPr>
            <a:stCxn id="256" idx="2"/>
          </p:cNvCxnSpPr>
          <p:nvPr/>
        </p:nvCxnSpPr>
        <p:spPr>
          <a:xfrm flipH="1" rot="-5400000">
            <a:off x="8095250" y="626999"/>
            <a:ext cx="323700" cy="3856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g3f66aca4bf7_1_9"/>
          <p:cNvCxnSpPr/>
          <p:nvPr/>
        </p:nvCxnSpPr>
        <p:spPr>
          <a:xfrm>
            <a:off x="2230100" y="2717250"/>
            <a:ext cx="0" cy="58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g3f66aca4bf7_1_9"/>
          <p:cNvCxnSpPr/>
          <p:nvPr/>
        </p:nvCxnSpPr>
        <p:spPr>
          <a:xfrm>
            <a:off x="6328700" y="2717250"/>
            <a:ext cx="0" cy="58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g3f66aca4bf7_1_9"/>
          <p:cNvCxnSpPr/>
          <p:nvPr/>
        </p:nvCxnSpPr>
        <p:spPr>
          <a:xfrm>
            <a:off x="10190100" y="2717250"/>
            <a:ext cx="0" cy="58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g3f66aca4bf7_1_9"/>
          <p:cNvSpPr txBox="1"/>
          <p:nvPr>
            <p:ph idx="1" type="body"/>
          </p:nvPr>
        </p:nvSpPr>
        <p:spPr>
          <a:xfrm>
            <a:off x="1319750" y="3420825"/>
            <a:ext cx="2013900" cy="53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15"/>
              <a:t>External</a:t>
            </a:r>
            <a:endParaRPr sz="2005">
              <a:solidFill>
                <a:srgbClr val="233D97"/>
              </a:solidFill>
            </a:endParaRPr>
          </a:p>
        </p:txBody>
      </p:sp>
      <p:sp>
        <p:nvSpPr>
          <p:cNvPr id="263" name="Google Shape;263;g3f66aca4bf7_1_9"/>
          <p:cNvSpPr txBox="1"/>
          <p:nvPr>
            <p:ph idx="1" type="body"/>
          </p:nvPr>
        </p:nvSpPr>
        <p:spPr>
          <a:xfrm>
            <a:off x="9183150" y="3420825"/>
            <a:ext cx="2013900" cy="53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15"/>
              <a:t>Inline</a:t>
            </a:r>
            <a:endParaRPr sz="2005">
              <a:solidFill>
                <a:srgbClr val="233D97"/>
              </a:solidFill>
            </a:endParaRPr>
          </a:p>
        </p:txBody>
      </p:sp>
      <p:sp>
        <p:nvSpPr>
          <p:cNvPr id="264" name="Google Shape;264;g3f66aca4bf7_1_9"/>
          <p:cNvSpPr txBox="1"/>
          <p:nvPr>
            <p:ph idx="1" type="body"/>
          </p:nvPr>
        </p:nvSpPr>
        <p:spPr>
          <a:xfrm>
            <a:off x="5321750" y="3420825"/>
            <a:ext cx="2013900" cy="53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15"/>
              <a:t>Internal</a:t>
            </a:r>
            <a:endParaRPr sz="2005">
              <a:solidFill>
                <a:srgbClr val="233D97"/>
              </a:solidFill>
            </a:endParaRPr>
          </a:p>
        </p:txBody>
      </p:sp>
      <p:pic>
        <p:nvPicPr>
          <p:cNvPr id="265" name="Google Shape;265;g3f66aca4bf7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25" y="4074900"/>
            <a:ext cx="4481999" cy="16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f66aca4bf7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3063" y="3952125"/>
            <a:ext cx="2511265" cy="23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f66aca4bf7_1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9225" y="4074900"/>
            <a:ext cx="3841742" cy="1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6aca4bf7_0_9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8.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HTML Image and File Path</a:t>
            </a:r>
            <a:endParaRPr sz="2500"/>
          </a:p>
        </p:txBody>
      </p:sp>
      <p:sp>
        <p:nvSpPr>
          <p:cNvPr id="274" name="Google Shape;274;g3f66aca4bf7_0_99"/>
          <p:cNvSpPr txBox="1"/>
          <p:nvPr>
            <p:ph idx="1" type="body"/>
          </p:nvPr>
        </p:nvSpPr>
        <p:spPr>
          <a:xfrm>
            <a:off x="641325" y="10216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</a:rPr>
              <a:t>HTML Image (&lt;img&gt;) </a:t>
            </a:r>
            <a:endParaRPr sz="2500">
              <a:solidFill>
                <a:srgbClr val="FF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ប្រើសម្រាប់បញ្ចូលរូបភាពក្នុង Webpage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src : កំណត់ទីតាំងរូបភាព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alt : ពិពណ៌នារូបភាព (ជួយ Accessibility និង SEO)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width/height : កំណត់ទំហំរូបភាព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275" name="Google Shape;275;g3f66aca4bf7_0_99"/>
          <p:cNvSpPr/>
          <p:nvPr/>
        </p:nvSpPr>
        <p:spPr>
          <a:xfrm>
            <a:off x="3732900" y="3723825"/>
            <a:ext cx="5470200" cy="99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Kantumruy Pro"/>
                <a:ea typeface="Kantumruy Pro"/>
                <a:cs typeface="Kantumruy Pro"/>
                <a:sym typeface="Kantumruy Pro"/>
              </a:rPr>
              <a:t>&lt;img src="image.jpg" alt="Image description"&gt;</a:t>
            </a:r>
            <a:endParaRPr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sp>
        <p:nvSpPr>
          <p:cNvPr id="276" name="Google Shape;276;g3f66aca4bf7_0_99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6aca4bf7_0_13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8.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HTML Image and File Path</a:t>
            </a:r>
            <a:endParaRPr sz="2500"/>
          </a:p>
        </p:txBody>
      </p:sp>
      <p:sp>
        <p:nvSpPr>
          <p:cNvPr id="283" name="Google Shape;283;g3f66aca4bf7_0_132"/>
          <p:cNvSpPr txBox="1"/>
          <p:nvPr>
            <p:ph idx="1" type="body"/>
          </p:nvPr>
        </p:nvSpPr>
        <p:spPr>
          <a:xfrm>
            <a:off x="641325" y="10216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</a:rPr>
              <a:t>File Path </a:t>
            </a:r>
            <a:endParaRPr sz="2500">
              <a:solidFill>
                <a:srgbClr val="FF0000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ជាទីតាំងដែលប្រាប់ Browser ដើម្បីស្វែងរក File។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Relative Path : File នៅក្នុង Project Folder ដូចគ្នា។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Example: images/logo.png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Absolute Path : ប្រើ URL ពេញលេញពី Internet។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233D97"/>
                </a:solidFill>
              </a:rPr>
              <a:t>Example: https://example.com/logo.png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284" name="Google Shape;284;g3f66aca4bf7_0_132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666bfe173_0_33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9.   Icons</a:t>
            </a:r>
            <a:endParaRPr sz="3000"/>
          </a:p>
        </p:txBody>
      </p:sp>
      <p:sp>
        <p:nvSpPr>
          <p:cNvPr id="291" name="Google Shape;291;g3f666bfe173_0_33"/>
          <p:cNvSpPr txBox="1"/>
          <p:nvPr>
            <p:ph idx="1" type="body"/>
          </p:nvPr>
        </p:nvSpPr>
        <p:spPr>
          <a:xfrm>
            <a:off x="619675" y="1049253"/>
            <a:ext cx="11185800" cy="4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15">
                <a:solidFill>
                  <a:srgbClr val="FF0000"/>
                </a:solidFill>
              </a:rPr>
              <a:t>Icon :</a:t>
            </a:r>
            <a:r>
              <a:rPr lang="en-US" sz="2515"/>
              <a:t> ជារូបតំណាង ឬជា Visual Graphic ដែលតំណាងឲកម្មវិធី ឬឯកសារក្នុងទម្រង់តូច។</a:t>
            </a:r>
            <a:endParaRPr sz="2005"/>
          </a:p>
        </p:txBody>
      </p:sp>
      <p:pic>
        <p:nvPicPr>
          <p:cNvPr id="292" name="Google Shape;292;g3f666bfe173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450" y="1549650"/>
            <a:ext cx="7644751" cy="34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f666bfe173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115274"/>
            <a:ext cx="11401425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f666bfe173_0_33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666bfe173_0_3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10.   Block and Inline</a:t>
            </a:r>
            <a:endParaRPr sz="3000"/>
          </a:p>
        </p:txBody>
      </p:sp>
      <p:sp>
        <p:nvSpPr>
          <p:cNvPr id="301" name="Google Shape;301;g3f666bfe173_0_39"/>
          <p:cNvSpPr txBox="1"/>
          <p:nvPr>
            <p:ph idx="1" type="body"/>
          </p:nvPr>
        </p:nvSpPr>
        <p:spPr>
          <a:xfrm>
            <a:off x="619675" y="1081546"/>
            <a:ext cx="11185800" cy="16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00">
                <a:solidFill>
                  <a:srgbClr val="FF0000"/>
                </a:solidFill>
              </a:rPr>
              <a:t>Block level element :</a:t>
            </a:r>
            <a:r>
              <a:rPr lang="en-US" sz="2500"/>
              <a:t> ជាបណ្តុំelement ដែលតែងតែចុះបន្ទាត់ជានិច្ចដោយសារតែទំហំនៃ content ត្រូវបានវាតទី 100% នៃ view port ឬ browser។</a:t>
            </a:r>
            <a:endParaRPr sz="2500"/>
          </a:p>
        </p:txBody>
      </p:sp>
      <p:pic>
        <p:nvPicPr>
          <p:cNvPr id="302" name="Google Shape;302;g3f666bfe173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725" y="2094526"/>
            <a:ext cx="10178175" cy="39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f666bfe173_0_39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666bfe173_0_71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10.   Block and Inline</a:t>
            </a:r>
            <a:endParaRPr sz="3000"/>
          </a:p>
        </p:txBody>
      </p:sp>
      <p:sp>
        <p:nvSpPr>
          <p:cNvPr id="310" name="Google Shape;310;g3f666bfe173_0_71"/>
          <p:cNvSpPr txBox="1"/>
          <p:nvPr>
            <p:ph idx="1" type="body"/>
          </p:nvPr>
        </p:nvSpPr>
        <p:spPr>
          <a:xfrm>
            <a:off x="619675" y="1081546"/>
            <a:ext cx="11185800" cy="16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00">
                <a:solidFill>
                  <a:srgbClr val="FF0000"/>
                </a:solidFill>
              </a:rPr>
              <a:t>Inline level element :</a:t>
            </a:r>
            <a:r>
              <a:rPr lang="en-US" sz="2500"/>
              <a:t> ជាelement មិនចុះបន្ទាត់ដូច Block level ទេព្រោះដោយសារតែវាស៊ីទំហំដែល content ត្រូវការជាក់ស្តែងនៅក្នុង browser។</a:t>
            </a:r>
            <a:endParaRPr sz="2500"/>
          </a:p>
        </p:txBody>
      </p:sp>
      <p:pic>
        <p:nvPicPr>
          <p:cNvPr id="311" name="Google Shape;311;g3f666bfe173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550" y="1894425"/>
            <a:ext cx="10086050" cy="43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666bfe173_0_71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666bfe173_0_8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</a:t>
            </a:r>
            <a:r>
              <a:rPr lang="en-US" sz="3000"/>
              <a:t>Semantic and Accessibility</a:t>
            </a:r>
            <a:endParaRPr sz="3000"/>
          </a:p>
        </p:txBody>
      </p:sp>
      <p:sp>
        <p:nvSpPr>
          <p:cNvPr id="319" name="Google Shape;319;g3f666bfe173_0_80"/>
          <p:cNvSpPr txBox="1"/>
          <p:nvPr>
            <p:ph idx="1" type="body"/>
          </p:nvPr>
        </p:nvSpPr>
        <p:spPr>
          <a:xfrm>
            <a:off x="619675" y="1614048"/>
            <a:ext cx="11185800" cy="78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00">
                <a:solidFill>
                  <a:srgbClr val="FF0000"/>
                </a:solidFill>
              </a:rPr>
              <a:t>Semantic :</a:t>
            </a:r>
            <a:r>
              <a:rPr lang="en-US" sz="2500"/>
              <a:t> គឺជាការពណ៌នាអំពីអត្ថន័យនៃប្លង់នីមួយៗច្បាស់លាស់ទៅកាន់ browser ឬ developer។</a:t>
            </a:r>
            <a:endParaRPr sz="2500"/>
          </a:p>
        </p:txBody>
      </p:sp>
      <p:sp>
        <p:nvSpPr>
          <p:cNvPr id="320" name="Google Shape;320;g3f666bfe173_0_80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11.1.   </a:t>
            </a:r>
            <a:r>
              <a:rPr lang="en-US" sz="3000"/>
              <a:t>Understanding semantic HTML and its benefits</a:t>
            </a:r>
            <a:endParaRPr sz="3000"/>
          </a:p>
        </p:txBody>
      </p:sp>
      <p:sp>
        <p:nvSpPr>
          <p:cNvPr id="321" name="Google Shape;321;g3f666bfe173_0_80"/>
          <p:cNvSpPr txBox="1"/>
          <p:nvPr>
            <p:ph idx="1" type="body"/>
          </p:nvPr>
        </p:nvSpPr>
        <p:spPr>
          <a:xfrm>
            <a:off x="619675" y="2670075"/>
            <a:ext cx="6190200" cy="78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00"/>
              <a:t>ដើម្បីអាចឲប្លង់របស់យើងមានលក្ខណៈជា Semantic បានយើងគួរតែមានផ្នែកសំខាន់ៗដូចជា: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Header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Navigation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Main Content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Side-bar</a:t>
            </a:r>
            <a:endParaRPr sz="2500"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/>
              <a:t>Footer</a:t>
            </a:r>
            <a:endParaRPr sz="2500"/>
          </a:p>
        </p:txBody>
      </p:sp>
      <p:pic>
        <p:nvPicPr>
          <p:cNvPr id="322" name="Google Shape;322;g3f666bfe173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9875" y="2185825"/>
            <a:ext cx="4013750" cy="458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f666bfe173_0_80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666bfe173_0_94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30" name="Google Shape;330;g3f666bfe173_0_94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lang="en-US" sz="2500">
                <a:solidFill>
                  <a:srgbClr val="233D97"/>
                </a:solidFill>
              </a:rPr>
              <a:t>អត្ថប្រយោជន៍នៃ Semantic HTML :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Better Readability</a:t>
            </a:r>
            <a:r>
              <a:rPr lang="en-US" sz="2500">
                <a:solidFill>
                  <a:srgbClr val="233D97"/>
                </a:solidFill>
              </a:rPr>
              <a:t> : Semantic tags នឹងធ្វើឲរចនាសម្ព័ន្ធ Code របស់យើងងាយស្រួលយល់ ហើយក៏អាចឲ developers ផ្សេងងាយយល់ផងដែរ។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User Experience</a:t>
            </a:r>
            <a:r>
              <a:rPr lang="en-US" sz="2500">
                <a:solidFill>
                  <a:srgbClr val="233D97"/>
                </a:solidFill>
              </a:rPr>
              <a:t> : User នឹងងាយយល់លឿនអំពីខ្លឹមសារអត្ថន័យ នៃ Web-page របស់យើងបាន។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Better SEO</a:t>
            </a:r>
            <a:r>
              <a:rPr lang="en-US" sz="2500">
                <a:solidFill>
                  <a:srgbClr val="233D97"/>
                </a:solidFill>
              </a:rPr>
              <a:t> : ពពួក Search Engines ដូចជា Google, ជាដើមអាចនឹងងាយយល់អំពីរចនាសម្ព័ន្ធ និងខ្លឹមសារ នៅក្នុង Web-page របស់យើងបាន។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Easier Maintenance</a:t>
            </a:r>
            <a:r>
              <a:rPr lang="en-US" sz="2500">
                <a:solidFill>
                  <a:srgbClr val="233D97"/>
                </a:solidFill>
              </a:rPr>
              <a:t> : អាចឲយើងជា Developer ងាយស្រួលរកកន្លែង Error ឬ អាចឲយើងស្វែងរកនូវកន្លែងដែលយើងចង់ Update បានលឿន។</a:t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31" name="Google Shape;331;g3f666bfe173_0_94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11.1.   Understanding semantic HTML and its benefits</a:t>
            </a:r>
            <a:endParaRPr sz="3000"/>
          </a:p>
        </p:txBody>
      </p:sp>
      <p:sp>
        <p:nvSpPr>
          <p:cNvPr id="332" name="Google Shape;332;g3f666bfe173_0_94"/>
          <p:cNvSpPr/>
          <p:nvPr/>
        </p:nvSpPr>
        <p:spPr>
          <a:xfrm>
            <a:off x="4277125" y="6428750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666bfe173_0_110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39" name="Google Shape;339;g3f666bfe173_0_110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&lt;header&gt; :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ដែលប្រើសម្រាប់បង្ហាញនូវសេចក្តីផ្តើមរបស់ Content នៃ Webpage ឬ section របស់យើង។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&lt;nav&gt; :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ដែលប្រើសម្រាប់ឲ User អាច Click Navigation Link ដើម្បីផ្លាស់ទីពី Webpage មួយទៅ Webpage មួយទៀតបាន។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&lt;section&gt; :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ដែលប្រើសម្រាប់បង្ហាញនូវខ្លឹមសារដាច់ដោយឡែក (section 1 មិនពាក់ព័ន្ធទៅនឹង section 2) នៅក្នុង Webpageរបស់យើង។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&lt;article&gt; : </a:t>
            </a:r>
            <a:r>
              <a:rPr lang="en-US" sz="2500"/>
              <a:t>ជា element ដែលប្រើសម្រាប់បង្ហាញនូវខ្លឹមសារដាច់ដោយឡែក ហើយជាទូទៅវាជាផ្នែកមួយនៃ &lt;section&gt; មានន័យថាវានឹងវែកញែកខ្លឹមសារនៅក្នុង &lt;section&gt; ដាច់ដោយឡែកពីគ្នា។</a:t>
            </a:r>
            <a:endParaRPr sz="2500"/>
          </a:p>
        </p:txBody>
      </p:sp>
      <p:sp>
        <p:nvSpPr>
          <p:cNvPr id="340" name="Google Shape;340;g3f666bfe173_0_110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11.2.   </a:t>
            </a:r>
            <a:r>
              <a:rPr lang="en-US" sz="3000"/>
              <a:t>Using semantic elements </a:t>
            </a:r>
            <a:r>
              <a:rPr lang="en-US" sz="3000">
                <a:solidFill>
                  <a:srgbClr val="FF0000"/>
                </a:solidFill>
              </a:rPr>
              <a:t>(header, nav, section, article, footer)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341" name="Google Shape;341;g3f666bfe173_0_110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666bfe173_0_12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48" name="Google Shape;348;g3f666bfe173_0_129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&lt;footer&gt;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ដែលប្រើសម្រាប់បង្ហាញនូវព័ត៌មានបន្ថែមពាក់ព័ន្ធទៅនឹង Webpage មានដូចជា Copyright, Contact information, Privacy Policy…..ជាដើម។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49" name="Google Shape;349;g3f666bfe173_0_129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11.2.   Using semantic elements </a:t>
            </a:r>
            <a:r>
              <a:rPr lang="en-US" sz="3000">
                <a:solidFill>
                  <a:srgbClr val="FF0000"/>
                </a:solidFill>
              </a:rPr>
              <a:t>(header, nav, section, article, footer)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350" name="Google Shape;350;g3f666bfe173_0_129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នឿម សក្កដា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66aca4bf7_0_9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57" name="Google Shape;357;g3f66aca4bf7_0_9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Semantic HTML : </a:t>
            </a:r>
            <a:r>
              <a:rPr lang="en-US" sz="2500">
                <a:solidFill>
                  <a:srgbClr val="233D97"/>
                </a:solidFill>
              </a:rPr>
              <a:t>ជាការប្រើ HTML Element ឱ្យបានត្រឹមត្រូវ (ដូចជា &lt;header&gt;, &lt;main&gt;, &lt;nav&gt;, &lt;section&gt;) ដើម្បីឱ្យ Browser និង Screen Reader យល់ពីរចនាសម្ព័ន្ធ Website បានច្បាស់។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alt : </a:t>
            </a:r>
            <a:r>
              <a:rPr lang="en-US" sz="2500">
                <a:solidFill>
                  <a:srgbClr val="233D97"/>
                </a:solidFill>
              </a:rPr>
              <a:t>ជា Attribute ដែលប្រើសម្រាប់ពិពណ៌នារូបភាព ដើម្បីឱ្យ Screen Reader អាចអានជំនួសរូបភាពបាន។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label :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ដែលប្រើសម្រាប់ភ្ជាប់ជាមួយ Form Input ដើម្បីឱ្យអ្នកប្រើប្រាស់ដឹងថា Input នីមួយៗប្រើសម្រាប់អ្វី។ 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58" name="Google Shape;358;g3f66aca4bf7_0_9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11.3.  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 Enhancing accessibility with proper markup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359" name="Google Shape;359;g3f66aca4bf7_0_9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66aca4bf7_0_22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66" name="Google Shape;366;g3f66aca4bf7_0_22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Heading (&lt;h1&gt;–&lt;h6&gt;) :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ដែលប្រើសម្រាប់រៀបចំចំណងជើងតាមលំដាប់ ដើម្បីឱ្យ Content មានរចនាសម្ព័ន្ធច្បាស់លាស់ និងងាយអាន។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button និង link : </a:t>
            </a:r>
            <a:r>
              <a:rPr lang="en-US" sz="2500">
                <a:solidFill>
                  <a:srgbClr val="233D97"/>
                </a:solidFill>
              </a:rPr>
              <a:t>ជា Element ដែលប្រើសម្រាប់អនុវត្តសកម្មភាព (Button) ឬភ្ជាប់ទៅកាន់ទំព័រ/ទីតាំងផ្សេងៗ (Link) ដោយប្រើ Element ឱ្យត្រឹមត្រូវ។ 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67" name="Google Shape;367;g3f66aca4bf7_0_22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11.3.  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 Enhancing accessibility with proper markup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368" name="Google Shape;368;g3f66aca4bf7_0_22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369" name="Google Shape;369;g3f66aca4bf7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9500" y="3770050"/>
            <a:ext cx="2489475" cy="24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66aca4bf7_0_36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76" name="Google Shape;376;g3f66aca4bf7_0_36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33D97"/>
                </a:solidFill>
              </a:rPr>
              <a:t>Semantic HTML ជួយឱ្យ Search Engine យល់ពីរចនាសម្ព័ន្ធ Website បានល្អ និងបង្កើន SEO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Clear Structure : </a:t>
            </a:r>
            <a:r>
              <a:rPr lang="en-US" sz="2500">
                <a:solidFill>
                  <a:srgbClr val="233D97"/>
                </a:solidFill>
              </a:rPr>
              <a:t>ជួយឱ្យ Search Engine យល់ពីរចនាសម្ព័ន្ធ និងខ្លឹមសារ Website បានងាយ។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Content Understanding : </a:t>
            </a:r>
            <a:r>
              <a:rPr lang="en-US" sz="2500">
                <a:solidFill>
                  <a:srgbClr val="233D97"/>
                </a:solidFill>
              </a:rPr>
              <a:t>បង្ហាញថាផ្នែកណាជាចំណងជើង Navigation ឬ Main Content។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Improved Search Ranking :</a:t>
            </a:r>
            <a:r>
              <a:rPr lang="en-US" sz="2500">
                <a:solidFill>
                  <a:srgbClr val="233D97"/>
                </a:solidFill>
              </a:rPr>
              <a:t> Website ដែលមានរចនាសម្ព័ន្ធច្បាស់លាស់ មានឱកាសបង្ហាញក្នុងលទ្ធផលស្វែងរក (Search Results) បានប្រសើរជាងមុន។ 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77" name="Google Shape;377;g3f66aca4bf7_0_36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11.4.  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Improving SEO with semantic HTML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378" name="Google Shape;378;g3f66aca4bf7_0_36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66aca4bf7_0_55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85" name="Google Shape;385;g3f66aca4bf7_0_55"/>
          <p:cNvSpPr txBox="1"/>
          <p:nvPr>
            <p:ph idx="1" type="body"/>
          </p:nvPr>
        </p:nvSpPr>
        <p:spPr>
          <a:xfrm>
            <a:off x="882550" y="986899"/>
            <a:ext cx="11417700" cy="386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Improved Search Ranking : </a:t>
            </a:r>
            <a:r>
              <a:rPr lang="en-US" sz="2500">
                <a:solidFill>
                  <a:srgbClr val="233D97"/>
                </a:solidFill>
              </a:rPr>
              <a:t>Website ដែលមានរចនាសម្ព័ន្ធច្បាស់លាស់ មានឱកាសបង្ហាញក្នុងលទ្ធផលស្វែងរក (Search Results) បានប្រសើរជាងមុន។ </a:t>
            </a:r>
            <a:endParaRPr sz="2500">
              <a:solidFill>
                <a:srgbClr val="233D97"/>
              </a:solidFill>
            </a:endParaRPr>
          </a:p>
          <a:p>
            <a:pPr indent="-3873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233D97"/>
              </a:buClr>
              <a:buSzPts val="2500"/>
              <a:buChar char="•"/>
            </a:pPr>
            <a:r>
              <a:rPr lang="en-US" sz="2500">
                <a:solidFill>
                  <a:srgbClr val="FF0000"/>
                </a:solidFill>
              </a:rPr>
              <a:t>More Efficient Crawling : </a:t>
            </a:r>
            <a:r>
              <a:rPr lang="en-US" sz="2500">
                <a:solidFill>
                  <a:srgbClr val="233D97"/>
                </a:solidFill>
              </a:rPr>
              <a:t>Search Engine អាច Crawl និង Index Website បានលឿន និងត្រឹមត្រូវជាងមុន។ </a:t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86" name="Google Shape;386;g3f66aca4bf7_0_55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11.4.  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 Improving SEO with semantic HTML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387" name="Google Shape;387;g3f66aca4bf7_0_55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388" name="Google Shape;388;g3f66aca4bf7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8928" y="3767700"/>
            <a:ext cx="2293325" cy="23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66aca4bf7_0_75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395" name="Google Shape;395;g3f66aca4bf7_0_75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233D97"/>
                </a:solidFill>
              </a:rPr>
              <a:t>អ្វីទៅជាSemantic Tags? </a:t>
            </a:r>
            <a:endParaRPr sz="2500"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</a:rPr>
              <a:t>Semantic Tags </a:t>
            </a:r>
            <a:r>
              <a:rPr lang="en-US" sz="2500">
                <a:solidFill>
                  <a:srgbClr val="233D97"/>
                </a:solidFill>
              </a:rPr>
              <a:t>គឺជា HTML Elements ដែលមានអត្ថន័យច្បាស់លាស់ និងប្រើសម្រាប់រៀបចំ Layout របស់ Webpage ឱ្យមានរចនាសម្ព័ន្ធល្អ។ 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&lt;header&gt; :</a:t>
            </a:r>
            <a:r>
              <a:rPr lang="en-US" sz="2400">
                <a:solidFill>
                  <a:srgbClr val="233D97"/>
                </a:solidFill>
              </a:rPr>
              <a:t> ក្បាលទំព័រ</a:t>
            </a:r>
            <a:endParaRPr sz="2400">
              <a:solidFill>
                <a:srgbClr val="233D97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&lt;nav&gt; : </a:t>
            </a:r>
            <a:r>
              <a:rPr lang="en-US" sz="2400">
                <a:solidFill>
                  <a:srgbClr val="233D97"/>
                </a:solidFill>
              </a:rPr>
              <a:t>Navigation Menu</a:t>
            </a:r>
            <a:endParaRPr sz="2400">
              <a:solidFill>
                <a:srgbClr val="233D97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&lt;main&gt; :</a:t>
            </a:r>
            <a:r>
              <a:rPr lang="en-US" sz="2400">
                <a:solidFill>
                  <a:srgbClr val="233D97"/>
                </a:solidFill>
              </a:rPr>
              <a:t> ខ្លឹមសារសំខាន់</a:t>
            </a:r>
            <a:endParaRPr sz="2400">
              <a:solidFill>
                <a:srgbClr val="233D97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&lt;section&gt; : </a:t>
            </a:r>
            <a:r>
              <a:rPr lang="en-US" sz="2400">
                <a:solidFill>
                  <a:srgbClr val="233D97"/>
                </a:solidFill>
              </a:rPr>
              <a:t>បែងចែកខ្លឹមសារជាផ្នែក</a:t>
            </a:r>
            <a:endParaRPr sz="2400">
              <a:solidFill>
                <a:srgbClr val="233D97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&lt;article&gt; : </a:t>
            </a:r>
            <a:r>
              <a:rPr lang="en-US" sz="2400">
                <a:solidFill>
                  <a:srgbClr val="233D97"/>
                </a:solidFill>
              </a:rPr>
              <a:t>ខ្លឹមសារដាច់ដោយឡែក</a:t>
            </a:r>
            <a:endParaRPr sz="2400">
              <a:solidFill>
                <a:srgbClr val="233D97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&lt;aside&gt; :</a:t>
            </a:r>
            <a:r>
              <a:rPr lang="en-US" sz="2400">
                <a:solidFill>
                  <a:srgbClr val="233D97"/>
                </a:solidFill>
              </a:rPr>
              <a:t> ខ្លឹមសារបន្ថែម (Sidebar)</a:t>
            </a:r>
            <a:endParaRPr sz="2400">
              <a:solidFill>
                <a:srgbClr val="233D97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&lt;footer&gt; : </a:t>
            </a:r>
            <a:r>
              <a:rPr lang="en-US" sz="2400">
                <a:solidFill>
                  <a:srgbClr val="233D97"/>
                </a:solidFill>
              </a:rPr>
              <a:t>បាតទំព័រ</a:t>
            </a:r>
            <a:endParaRPr sz="2400">
              <a:solidFill>
                <a:srgbClr val="233D97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396" name="Google Shape;396;g3f66aca4bf7_0_75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11.5.  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Build Layout with semantic Tags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397" name="Google Shape;397;g3f66aca4bf7_0_75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66aca4bf7_0_88"/>
          <p:cNvSpPr txBox="1"/>
          <p:nvPr>
            <p:ph type="title"/>
          </p:nvPr>
        </p:nvSpPr>
        <p:spPr>
          <a:xfrm>
            <a:off x="503725" y="19176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11.   Semantic and Accessibility</a:t>
            </a:r>
            <a:endParaRPr sz="3000"/>
          </a:p>
        </p:txBody>
      </p:sp>
      <p:sp>
        <p:nvSpPr>
          <p:cNvPr id="404" name="Google Shape;404;g3f66aca4bf7_0_88"/>
          <p:cNvSpPr txBox="1"/>
          <p:nvPr>
            <p:ph idx="1" type="body"/>
          </p:nvPr>
        </p:nvSpPr>
        <p:spPr>
          <a:xfrm>
            <a:off x="619675" y="1614050"/>
            <a:ext cx="11417700" cy="48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233D97"/>
              </a:solidFill>
            </a:endParaRPr>
          </a:p>
        </p:txBody>
      </p:sp>
      <p:sp>
        <p:nvSpPr>
          <p:cNvPr id="405" name="Google Shape;405;g3f66aca4bf7_0_88"/>
          <p:cNvSpPr txBox="1"/>
          <p:nvPr>
            <p:ph type="title"/>
          </p:nvPr>
        </p:nvSpPr>
        <p:spPr>
          <a:xfrm>
            <a:off x="503725" y="770413"/>
            <a:ext cx="11417700" cy="64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11.5.   </a:t>
            </a:r>
            <a:r>
              <a:rPr lang="en-US" sz="2500">
                <a:latin typeface="Google Sans"/>
                <a:ea typeface="Google Sans"/>
                <a:cs typeface="Google Sans"/>
                <a:sym typeface="Google Sans"/>
              </a:rPr>
              <a:t> Build Layout with semantic Tags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406" name="Google Shape;406;g3f66aca4bf7_0_88"/>
          <p:cNvSpPr/>
          <p:nvPr/>
        </p:nvSpPr>
        <p:spPr>
          <a:xfrm>
            <a:off x="4277300" y="6259525"/>
            <a:ext cx="41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រៀបរៀងដោយ៖ </a:t>
            </a:r>
            <a:r>
              <a:rPr lang="en-US" sz="1800">
                <a:solidFill>
                  <a:srgbClr val="233D97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ចាន់ស្រីមុី</a:t>
            </a:r>
            <a:endParaRPr b="0" i="0" sz="1800" u="none" cap="none" strike="noStrike">
              <a:solidFill>
                <a:srgbClr val="233D97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  <p:pic>
        <p:nvPicPr>
          <p:cNvPr id="407" name="Google Shape;407;g3f66aca4bf7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225" y="1413625"/>
            <a:ext cx="4855025" cy="450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b64993a3c5_0_13"/>
          <p:cNvSpPr/>
          <p:nvPr/>
        </p:nvSpPr>
        <p:spPr>
          <a:xfrm>
            <a:off x="5044763" y="874575"/>
            <a:ext cx="2075328" cy="691794"/>
          </a:xfrm>
          <a:prstGeom prst="flowChartTerminator">
            <a:avLst/>
          </a:prstGeom>
          <a:solidFill>
            <a:srgbClr val="233D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1b64993a3c5_0_13"/>
          <p:cNvSpPr txBox="1"/>
          <p:nvPr>
            <p:ph idx="4294967295" type="title"/>
          </p:nvPr>
        </p:nvSpPr>
        <p:spPr>
          <a:xfrm>
            <a:off x="243525" y="985125"/>
            <a:ext cx="116778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ct val="85135"/>
              <a:buFont typeface="Kantumruy Pro SemiBold"/>
              <a:buNone/>
            </a:pPr>
            <a:r>
              <a:rPr b="1" lang="en-US" sz="296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សមាជិកក្រុម</a:t>
            </a:r>
            <a:endParaRPr b="1" sz="296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g1b64993a3c5_0_13"/>
          <p:cNvSpPr/>
          <p:nvPr/>
        </p:nvSpPr>
        <p:spPr>
          <a:xfrm>
            <a:off x="698337" y="2229450"/>
            <a:ext cx="1753800" cy="209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1b64993a3c5_0_13"/>
          <p:cNvSpPr/>
          <p:nvPr/>
        </p:nvSpPr>
        <p:spPr>
          <a:xfrm>
            <a:off x="7479480" y="2229450"/>
            <a:ext cx="1753800" cy="209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4941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1b64993a3c5_0_13"/>
          <p:cNvSpPr txBox="1"/>
          <p:nvPr/>
        </p:nvSpPr>
        <p:spPr>
          <a:xfrm>
            <a:off x="1164825" y="3076500"/>
            <a:ext cx="8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PHOTO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8" name="Google Shape;418;g1b64993a3c5_0_13"/>
          <p:cNvSpPr txBox="1"/>
          <p:nvPr/>
        </p:nvSpPr>
        <p:spPr>
          <a:xfrm>
            <a:off x="3413888" y="3076500"/>
            <a:ext cx="8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PHOTO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9" name="Google Shape;419;g1b64993a3c5_0_13"/>
          <p:cNvSpPr txBox="1"/>
          <p:nvPr/>
        </p:nvSpPr>
        <p:spPr>
          <a:xfrm>
            <a:off x="7957288" y="3076500"/>
            <a:ext cx="8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PHOTO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0" name="Google Shape;420;g1b64993a3c5_0_13"/>
          <p:cNvSpPr txBox="1"/>
          <p:nvPr/>
        </p:nvSpPr>
        <p:spPr>
          <a:xfrm>
            <a:off x="698325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rPr>
              <a:t>មុឹង </a:t>
            </a:r>
            <a:endParaRPr b="1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rPr>
              <a:t>ចាន់ស្រីមុី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1" lang="en-US" sz="22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rPr>
              <a:t>RUPP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1" name="Google Shape;421;g1b64993a3c5_0_13"/>
          <p:cNvSpPr txBox="1"/>
          <p:nvPr/>
        </p:nvSpPr>
        <p:spPr>
          <a:xfrm>
            <a:off x="2947400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latin typeface="Google Sans"/>
                <a:ea typeface="Google Sans"/>
                <a:cs typeface="Google Sans"/>
                <a:sym typeface="Google Sans"/>
              </a:rPr>
              <a:t>អុន</a:t>
            </a:r>
            <a:endParaRPr b="1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Google Sans"/>
                <a:ea typeface="Google Sans"/>
                <a:cs typeface="Google Sans"/>
                <a:sym typeface="Google Sans"/>
              </a:rPr>
              <a:t>វុធ្ធី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RUPP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2" name="Google Shape;422;g1b64993a3c5_0_13"/>
          <p:cNvSpPr txBox="1"/>
          <p:nvPr/>
        </p:nvSpPr>
        <p:spPr>
          <a:xfrm>
            <a:off x="5219100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latin typeface="Google Sans"/>
                <a:ea typeface="Google Sans"/>
                <a:cs typeface="Google Sans"/>
                <a:sym typeface="Google Sans"/>
              </a:rPr>
              <a:t>ឆោម</a:t>
            </a:r>
            <a:endParaRPr b="1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Google Sans"/>
                <a:ea typeface="Google Sans"/>
                <a:cs typeface="Google Sans"/>
                <a:sym typeface="Google Sans"/>
              </a:rPr>
              <a:t>ទិត្យសិលា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1" lang="en-US" sz="2200">
                <a:latin typeface="Google Sans"/>
                <a:ea typeface="Google Sans"/>
                <a:cs typeface="Google Sans"/>
                <a:sym typeface="Google Sans"/>
              </a:rPr>
              <a:t>ISTAD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23" name="Google Shape;423;g1b64993a3c5_0_13"/>
          <p:cNvSpPr txBox="1"/>
          <p:nvPr/>
        </p:nvSpPr>
        <p:spPr>
          <a:xfrm>
            <a:off x="7479475" y="4500925"/>
            <a:ext cx="1753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Google Sans"/>
                <a:ea typeface="Google Sans"/>
                <a:cs typeface="Google Sans"/>
                <a:sym typeface="Google Sans"/>
              </a:rPr>
              <a:t>នឿម</a:t>
            </a:r>
            <a:endParaRPr b="1" sz="2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Google Sans"/>
                <a:ea typeface="Google Sans"/>
                <a:cs typeface="Google Sans"/>
                <a:sym typeface="Google Sans"/>
              </a:rPr>
              <a:t>សក្កដា</a:t>
            </a:r>
            <a:endParaRPr sz="22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—</a:t>
            </a:r>
            <a:endParaRPr b="0" i="0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1" lang="en-US" sz="2200">
                <a:latin typeface="Google Sans"/>
                <a:ea typeface="Google Sans"/>
                <a:cs typeface="Google Sans"/>
                <a:sym typeface="Google Sans"/>
              </a:rPr>
              <a:t>ISTAD</a:t>
            </a:r>
            <a:endParaRPr b="0" i="1" sz="2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424" name="Google Shape;424;g1b64993a3c5_0_13" title="photo_2026-05-25_23-46-26.jpg"/>
          <p:cNvPicPr preferRelativeResize="0"/>
          <p:nvPr/>
        </p:nvPicPr>
        <p:blipFill rotWithShape="1">
          <a:blip r:embed="rId3">
            <a:alphaModFix/>
          </a:blip>
          <a:srcRect b="3985" l="0" r="0" t="3976"/>
          <a:stretch/>
        </p:blipFill>
        <p:spPr>
          <a:xfrm>
            <a:off x="5219100" y="2229450"/>
            <a:ext cx="1753800" cy="2075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pic>
      <p:pic>
        <p:nvPicPr>
          <p:cNvPr id="425" name="Google Shape;425;g1b64993a3c5_0_13" title="photo_2025-07-30_16-11-49.jpg"/>
          <p:cNvPicPr preferRelativeResize="0"/>
          <p:nvPr/>
        </p:nvPicPr>
        <p:blipFill rotWithShape="1">
          <a:blip r:embed="rId4">
            <a:alphaModFix/>
          </a:blip>
          <a:srcRect b="6978" l="0" r="0" t="6978"/>
          <a:stretch/>
        </p:blipFill>
        <p:spPr>
          <a:xfrm>
            <a:off x="675700" y="2229575"/>
            <a:ext cx="1807200" cy="209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26" name="Google Shape;426;g1b64993a3c5_0_13" title="អុន​ វុធ្ធី (កំពង់ចាម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713" y="2220000"/>
            <a:ext cx="1753799" cy="20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1b64993a3c5_0_13" title="IMG_1087.jpeg"/>
          <p:cNvPicPr preferRelativeResize="0"/>
          <p:nvPr/>
        </p:nvPicPr>
        <p:blipFill rotWithShape="1">
          <a:blip r:embed="rId6">
            <a:alphaModFix/>
          </a:blip>
          <a:srcRect b="-8854" l="-3320" r="-8850" t="-7344"/>
          <a:stretch/>
        </p:blipFill>
        <p:spPr>
          <a:xfrm>
            <a:off x="7396625" y="1831175"/>
            <a:ext cx="1942151" cy="26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b64993a3c5_0_7"/>
          <p:cNvSpPr txBox="1"/>
          <p:nvPr>
            <p:ph type="ctrTitle"/>
          </p:nvPr>
        </p:nvSpPr>
        <p:spPr>
          <a:xfrm>
            <a:off x="1524000" y="92899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D97"/>
              </a:buClr>
              <a:buSzPts val="6000"/>
              <a:buFont typeface="Kantumruy Pro SemiBold"/>
              <a:buNone/>
            </a:pPr>
            <a:r>
              <a:rPr b="1" i="1" lang="en-US">
                <a:latin typeface="Google Sans"/>
                <a:ea typeface="Google Sans"/>
                <a:cs typeface="Google Sans"/>
                <a:sym typeface="Google Sans"/>
              </a:rPr>
              <a:t>សូមអរគុណ!</a:t>
            </a:r>
            <a:endParaRPr b="1" i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33" name="Google Shape;433;g1b64993a3c5_0_7"/>
          <p:cNvSpPr txBox="1"/>
          <p:nvPr>
            <p:ph idx="1" type="subTitle"/>
          </p:nvPr>
        </p:nvSpPr>
        <p:spPr>
          <a:xfrm>
            <a:off x="1524000" y="3922364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1E28"/>
              </a:buClr>
              <a:buSzPts val="3200"/>
              <a:buNone/>
            </a:pPr>
            <a:r>
              <a:rPr b="1" i="1" lang="en-US" sz="2400">
                <a:latin typeface="Consolas"/>
                <a:ea typeface="Consolas"/>
                <a:cs typeface="Consolas"/>
                <a:sym typeface="Consolas"/>
              </a:rPr>
              <a:t>With great achievement comes great responsibility!</a:t>
            </a:r>
            <a:endParaRPr b="1" i="1"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2022-03-03T16:13:23Z</dcterms:created>
  <dc:creator>Chhaya</dc:creator>
</cp:coreProperties>
</file>