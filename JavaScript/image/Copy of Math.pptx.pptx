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imo Bold" charset="1" panose="020B0704020202020204"/>
      <p:regular r:id="rId35"/>
    </p:embeddedFont>
    <p:embeddedFont>
      <p:font typeface="Arial Bold" charset="1" panose="020B0704020202020204"/>
      <p:regular r:id="rId36"/>
    </p:embeddedFont>
    <p:embeddedFont>
      <p:font typeface="Arimo" charset="1" panose="020B0604020202020204"/>
      <p:regular r:id="rId37"/>
    </p:embeddedFont>
    <p:embeddedFont>
      <p:font typeface="Siemreap" charset="1" panose="02000500000000000000"/>
      <p:regular r:id="rId39"/>
    </p:embeddedFont>
    <p:embeddedFont>
      <p:font typeface="Open Sauce Bold" charset="1" panose="00000800000000000000"/>
      <p:regular r:id="rId45"/>
    </p:embeddedFont>
    <p:embeddedFont>
      <p:font typeface="Open Sauce" charset="1" panose="00000500000000000000"/>
      <p:regular r:id="rId46"/>
    </p:embeddedFont>
    <p:embeddedFont>
      <p:font typeface="Canva Sans Bold" charset="1" panose="020B0803030501040103"/>
      <p:regular r:id="rId51"/>
    </p:embeddedFont>
    <p:embeddedFont>
      <p:font typeface="Arimo Bold Italics" charset="1" panose="020B0704020202090204"/>
      <p:regular r:id="rId67"/>
    </p:embeddedFont>
    <p:embeddedFont>
      <p:font typeface="Consolas Bold Italics" charset="1" panose="020B07090202040A0204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6.png" Type="http://schemas.openxmlformats.org/officeDocument/2006/relationships/image"/><Relationship Id="rId14" Target="../media/image4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1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53851" y="1086612"/>
            <a:ext cx="8180289" cy="8113786"/>
            <a:chOff x="0" y="0"/>
            <a:chExt cx="10907052" cy="10818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07014" cy="10818368"/>
            </a:xfrm>
            <a:custGeom>
              <a:avLst/>
              <a:gdLst/>
              <a:ahLst/>
              <a:cxnLst/>
              <a:rect r="r" b="b" t="t" l="l"/>
              <a:pathLst>
                <a:path h="10818368" w="10907014">
                  <a:moveTo>
                    <a:pt x="0" y="0"/>
                  </a:moveTo>
                  <a:lnTo>
                    <a:pt x="10907014" y="0"/>
                  </a:lnTo>
                  <a:lnTo>
                    <a:pt x="10907014" y="10818368"/>
                  </a:lnTo>
                  <a:lnTo>
                    <a:pt x="0" y="1081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1530" t="0" r="-15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43925" y="5046154"/>
            <a:ext cx="1192949" cy="440550"/>
            <a:chOff x="0" y="0"/>
            <a:chExt cx="1590599" cy="58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0675" cy="587502"/>
            </a:xfrm>
            <a:custGeom>
              <a:avLst/>
              <a:gdLst/>
              <a:ahLst/>
              <a:cxnLst/>
              <a:rect r="r" b="b" t="t" l="l"/>
              <a:pathLst>
                <a:path h="587502" w="1590675">
                  <a:moveTo>
                    <a:pt x="0" y="293751"/>
                  </a:moveTo>
                  <a:cubicBezTo>
                    <a:pt x="0" y="131445"/>
                    <a:pt x="131445" y="0"/>
                    <a:pt x="293751" y="0"/>
                  </a:cubicBezTo>
                  <a:lnTo>
                    <a:pt x="1296924" y="0"/>
                  </a:lnTo>
                  <a:cubicBezTo>
                    <a:pt x="1459103" y="0"/>
                    <a:pt x="1590675" y="131445"/>
                    <a:pt x="1590675" y="293751"/>
                  </a:cubicBezTo>
                  <a:cubicBezTo>
                    <a:pt x="1590675" y="456057"/>
                    <a:pt x="1459230" y="587502"/>
                    <a:pt x="1296924" y="587502"/>
                  </a:cubicBezTo>
                  <a:lnTo>
                    <a:pt x="293751" y="587502"/>
                  </a:lnTo>
                  <a:cubicBezTo>
                    <a:pt x="131445" y="587375"/>
                    <a:pt x="0" y="455930"/>
                    <a:pt x="0" y="293751"/>
                  </a:cubicBezTo>
                  <a:close/>
                </a:path>
              </a:pathLst>
            </a:custGeom>
            <a:solidFill>
              <a:srgbClr val="B3C6E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73944" y="5181971"/>
            <a:ext cx="740254" cy="168754"/>
          </a:xfrm>
          <a:custGeom>
            <a:avLst/>
            <a:gdLst/>
            <a:ahLst/>
            <a:cxnLst/>
            <a:rect r="r" b="b" t="t" l="l"/>
            <a:pathLst>
              <a:path h="168754" w="740254">
                <a:moveTo>
                  <a:pt x="0" y="0"/>
                </a:moveTo>
                <a:lnTo>
                  <a:pt x="740255" y="0"/>
                </a:lnTo>
                <a:lnTo>
                  <a:pt x="740255" y="168755"/>
                </a:lnTo>
                <a:lnTo>
                  <a:pt x="0" y="168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27500">
            <a:off x="-236191" y="-464620"/>
            <a:ext cx="4990538" cy="1837515"/>
            <a:chOff x="0" y="0"/>
            <a:chExt cx="6654051" cy="2450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1393488"/>
            <a:ext cx="13716000" cy="3581550"/>
            <a:chOff x="0" y="0"/>
            <a:chExt cx="18288000" cy="477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775397"/>
            </a:xfrm>
            <a:custGeom>
              <a:avLst/>
              <a:gdLst/>
              <a:ahLst/>
              <a:cxnLst/>
              <a:rect r="r" b="b" t="t" l="l"/>
              <a:pathLst>
                <a:path h="4775397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397"/>
                  </a:lnTo>
                  <a:lnTo>
                    <a:pt x="0" y="477539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620" r="0" b="-246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8288000" cy="4708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9000">
                  <a:solidFill>
                    <a:srgbClr val="233D9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គណិតវិទ្យាឌីស្ក្រែត</a:t>
              </a:r>
            </a:p>
            <a:p>
              <a:pPr algn="l">
                <a:lnSpc>
                  <a:spcPts val="97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77421" y="5976871"/>
            <a:ext cx="13533149" cy="234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Discrete Mathematics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773400" y="9145429"/>
            <a:ext cx="2009470" cy="730987"/>
            <a:chOff x="0" y="0"/>
            <a:chExt cx="2679294" cy="9746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9319" cy="974598"/>
            </a:xfrm>
            <a:custGeom>
              <a:avLst/>
              <a:gdLst/>
              <a:ahLst/>
              <a:cxnLst/>
              <a:rect r="r" b="b" t="t" l="l"/>
              <a:pathLst>
                <a:path h="974598" w="2679319">
                  <a:moveTo>
                    <a:pt x="0" y="0"/>
                  </a:moveTo>
                  <a:lnTo>
                    <a:pt x="2679319" y="0"/>
                  </a:lnTo>
                  <a:lnTo>
                    <a:pt x="2679319" y="974598"/>
                  </a:lnTo>
                  <a:lnTo>
                    <a:pt x="0" y="9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7479" y="8413842"/>
            <a:ext cx="4279497" cy="1978647"/>
            <a:chOff x="0" y="0"/>
            <a:chExt cx="5705996" cy="26381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06000" cy="2638200"/>
            </a:xfrm>
            <a:custGeom>
              <a:avLst/>
              <a:gdLst/>
              <a:ahLst/>
              <a:cxnLst/>
              <a:rect r="r" b="b" t="t" l="l"/>
              <a:pathLst>
                <a:path h="2638200" w="5706000">
                  <a:moveTo>
                    <a:pt x="0" y="0"/>
                  </a:moveTo>
                  <a:lnTo>
                    <a:pt x="5706000" y="0"/>
                  </a:lnTo>
                  <a:lnTo>
                    <a:pt x="5706000" y="2638200"/>
                  </a:lnTo>
                  <a:lnTo>
                    <a:pt x="0" y="2638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9321" t="0" r="-932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705996" cy="2628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0033B3"/>
                  </a:solidFill>
                  <a:latin typeface="Arimo"/>
                  <a:ea typeface="Arimo"/>
                  <a:cs typeface="Arimo"/>
                  <a:sym typeface="Arimo"/>
                </a:rPr>
                <a:t>ណែនាំដោយ</a:t>
              </a:r>
            </a:p>
            <a:p>
              <a:pPr algn="l">
                <a:lnSpc>
                  <a:spcPts val="3888"/>
                </a:lnSpc>
              </a:pPr>
              <a:r>
                <a:rPr lang="en-US" sz="3600">
                  <a:solidFill>
                    <a:srgbClr val="0033B3"/>
                  </a:solidFill>
                  <a:latin typeface="Arimo"/>
                  <a:ea typeface="Arimo"/>
                  <a:cs typeface="Arimo"/>
                  <a:sym typeface="Arimo"/>
                </a:rPr>
                <a:t>អ្នកគ្រូ​ ច័ន្ទរ័ត្ន មុនីតា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9427" y="584254"/>
            <a:ext cx="17517151" cy="964797"/>
            <a:chOff x="0" y="0"/>
            <a:chExt cx="23356202" cy="1286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0"/>
            </a:xfrm>
            <a:custGeom>
              <a:avLst/>
              <a:gdLst/>
              <a:ahLst/>
              <a:cxnLst/>
              <a:rect r="r" b="b" t="t" l="l"/>
              <a:pathLst>
                <a:path h="1286400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0"/>
                  </a:lnTo>
                  <a:lnTo>
                    <a:pt x="0" y="1286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5" r="0" b="-3037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3356202" cy="1257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08"/>
                </a:lnSpc>
              </a:pPr>
              <a:r>
                <a:rPr lang="en-US" b="true" sz="5100" u="sng">
                  <a:solidFill>
                    <a:srgbClr val="E11E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មាតិកា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9427" y="2130096"/>
            <a:ext cx="16596303" cy="550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អនុគមន៍សំណើរ (Propositional Function / Predicate)</a:t>
            </a:r>
          </a:p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សមមូលតក្កៈ (Logical Equivalence)</a:t>
            </a:r>
          </a:p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តូតូឡូហ្ស៊ី (Tautology) និង​ អង់តូឡូហ្ស៊ី (Contradiction)</a:t>
            </a:r>
          </a:p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ពីជគណិតនៃសំណើរ (Algebra of Propositions)</a:t>
            </a:r>
          </a:p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បរិមាណករ (Quantifiers)</a:t>
            </a:r>
          </a:p>
          <a:p>
            <a:pPr algn="l" marL="971550" indent="-485775" lvl="1">
              <a:lnSpc>
                <a:spcPts val="7290"/>
              </a:lnSpc>
              <a:buAutoNum type="arabicPeriod" startAt="1"/>
            </a:pPr>
            <a:r>
              <a:rPr lang="en-US" sz="4500">
                <a:solidFill>
                  <a:srgbClr val="233D97"/>
                </a:solidFill>
                <a:latin typeface="Arimo"/>
                <a:ea typeface="Arimo"/>
                <a:cs typeface="Arimo"/>
                <a:sym typeface="Arimo"/>
              </a:rPr>
              <a:t>លំហាត់អនុវត្ត (Exercises)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1814050"/>
            <a:ext cx="14152132" cy="6360259"/>
            <a:chOff x="0" y="0"/>
            <a:chExt cx="3727293" cy="1674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27293" cy="1674940"/>
            </a:xfrm>
            <a:custGeom>
              <a:avLst/>
              <a:gdLst/>
              <a:ahLst/>
              <a:cxnLst/>
              <a:rect r="r" b="b" t="t" l="l"/>
              <a:pathLst>
                <a:path h="1674940" w="3727293">
                  <a:moveTo>
                    <a:pt x="3727293" y="27352"/>
                  </a:moveTo>
                  <a:lnTo>
                    <a:pt x="3727293" y="1647587"/>
                  </a:lnTo>
                  <a:cubicBezTo>
                    <a:pt x="3727293" y="1654841"/>
                    <a:pt x="3724411" y="1661799"/>
                    <a:pt x="3719282" y="1666928"/>
                  </a:cubicBezTo>
                  <a:cubicBezTo>
                    <a:pt x="3714152" y="1672058"/>
                    <a:pt x="3707195" y="1674940"/>
                    <a:pt x="3699940" y="1674940"/>
                  </a:cubicBezTo>
                  <a:lnTo>
                    <a:pt x="27352" y="1674940"/>
                  </a:lnTo>
                  <a:cubicBezTo>
                    <a:pt x="12246" y="1674940"/>
                    <a:pt x="0" y="1662693"/>
                    <a:pt x="0" y="1647587"/>
                  </a:cubicBezTo>
                  <a:lnTo>
                    <a:pt x="0" y="27352"/>
                  </a:lnTo>
                  <a:cubicBezTo>
                    <a:pt x="0" y="12246"/>
                    <a:pt x="12246" y="0"/>
                    <a:pt x="27352" y="0"/>
                  </a:cubicBezTo>
                  <a:lnTo>
                    <a:pt x="3699940" y="0"/>
                  </a:lnTo>
                  <a:cubicBezTo>
                    <a:pt x="3715047" y="0"/>
                    <a:pt x="3727293" y="12246"/>
                    <a:pt x="3727293" y="27352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727293" cy="1722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9427" y="584254"/>
            <a:ext cx="17517151" cy="1038391"/>
            <a:chOff x="0" y="0"/>
            <a:chExt cx="23356202" cy="13845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384526"/>
            </a:xfrm>
            <a:custGeom>
              <a:avLst/>
              <a:gdLst/>
              <a:ahLst/>
              <a:cxnLst/>
              <a:rect r="r" b="b" t="t" l="l"/>
              <a:pathLst>
                <a:path h="1384526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384526"/>
                  </a:lnTo>
                  <a:lnTo>
                    <a:pt x="0" y="13845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245" r="0" b="-2751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3356202" cy="135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08"/>
                </a:lnSpc>
              </a:pPr>
              <a:r>
                <a:rPr lang="en-US" b="true" sz="5100" u="sng">
                  <a:solidFill>
                    <a:srgbClr val="E11E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ព</a:t>
              </a:r>
              <a:r>
                <a:rPr lang="en-US" b="true" sz="5100" u="sng">
                  <a:solidFill>
                    <a:srgbClr val="E11E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ាក្យគន្លឹះ: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814050"/>
            <a:ext cx="16894007" cy="6360259"/>
            <a:chOff x="0" y="0"/>
            <a:chExt cx="4449430" cy="1674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9430" cy="1674940"/>
            </a:xfrm>
            <a:custGeom>
              <a:avLst/>
              <a:gdLst/>
              <a:ahLst/>
              <a:cxnLst/>
              <a:rect r="r" b="b" t="t" l="l"/>
              <a:pathLst>
                <a:path h="1674940" w="4449430">
                  <a:moveTo>
                    <a:pt x="4449430" y="22913"/>
                  </a:moveTo>
                  <a:lnTo>
                    <a:pt x="4449430" y="1652026"/>
                  </a:lnTo>
                  <a:cubicBezTo>
                    <a:pt x="4449430" y="1658103"/>
                    <a:pt x="4447015" y="1663931"/>
                    <a:pt x="4442718" y="1668228"/>
                  </a:cubicBezTo>
                  <a:cubicBezTo>
                    <a:pt x="4438421" y="1672526"/>
                    <a:pt x="4432593" y="1674940"/>
                    <a:pt x="4426516" y="1674940"/>
                  </a:cubicBezTo>
                  <a:lnTo>
                    <a:pt x="22913" y="1674940"/>
                  </a:lnTo>
                  <a:cubicBezTo>
                    <a:pt x="10259" y="1674940"/>
                    <a:pt x="0" y="1664681"/>
                    <a:pt x="0" y="1652026"/>
                  </a:cubicBezTo>
                  <a:lnTo>
                    <a:pt x="0" y="22913"/>
                  </a:lnTo>
                  <a:cubicBezTo>
                    <a:pt x="0" y="10259"/>
                    <a:pt x="10259" y="0"/>
                    <a:pt x="22913" y="0"/>
                  </a:cubicBezTo>
                  <a:lnTo>
                    <a:pt x="4426516" y="0"/>
                  </a:lnTo>
                  <a:cubicBezTo>
                    <a:pt x="4439171" y="0"/>
                    <a:pt x="4449430" y="10259"/>
                    <a:pt x="4449430" y="2291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449430" cy="1722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9427" y="2242972"/>
            <a:ext cx="1630299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បកាសន៍ ជា ឃ្លាខ្លះ ប្រយោគខ្លះ ឬ អំណះអំណាងខ្លះ ដែលគេអាចសម្រេចបានថា មួយពិត ឬ មួយមិនពិត។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9427" y="3081175"/>
            <a:ext cx="622589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អនុគម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ន៍សំណើរ ឬ អនុគមន៍បកាសន៍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9427" y="3919375"/>
            <a:ext cx="691884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ចីរ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សច្ចភាព ឬ តូតូឡូហ្សី ( Tautology 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9427" y="4757575"/>
            <a:ext cx="81893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ចីរអ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សច្ចភាព ឬ អង់ទីឡូហ្សី ( Contradiction 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293" y="547688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3356202" cy="125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4860"/>
                </a:lnSpc>
                <a:buAutoNum type="arabicPeriod" startAt="1"/>
              </a:pPr>
              <a:r>
                <a:rPr lang="en-US" b="true" sz="4500">
                  <a:solidFill>
                    <a:srgbClr val="233D9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អនុគមន៍សំណើរ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4201" y="1948940"/>
            <a:ext cx="14261670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4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អនុគមន៍សំណើរ ឬ អនុគមន៍បកាសន៍ ជាអំណះអំណាង ឬ ជាឃ្លាដែលទាក់ទងនឹងអក្សរខ្លះ ហើយដែលក្លាយទៅជាបកាសន៍ ឬ បកាសន៍សមាស កាលណាយើងជំនួសអក្សរទាំងនោះ ដោយគនិតវត្ថុត្រឹមត្រូវ។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4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គេសរសេរ f(a) = f(a, b, c, …) ដែល a, b, c, …ជាគណិតវត្ថុ។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3219" y="1603428"/>
            <a:ext cx="14550340" cy="3329450"/>
            <a:chOff x="0" y="0"/>
            <a:chExt cx="3832171" cy="8767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32171" cy="876793"/>
            </a:xfrm>
            <a:custGeom>
              <a:avLst/>
              <a:gdLst/>
              <a:ahLst/>
              <a:cxnLst/>
              <a:rect r="r" b="b" t="t" l="l"/>
              <a:pathLst>
                <a:path h="876793" w="3832171">
                  <a:moveTo>
                    <a:pt x="3832171" y="26604"/>
                  </a:moveTo>
                  <a:lnTo>
                    <a:pt x="3832171" y="850189"/>
                  </a:lnTo>
                  <a:cubicBezTo>
                    <a:pt x="3832171" y="864882"/>
                    <a:pt x="3820260" y="876793"/>
                    <a:pt x="3805567" y="876793"/>
                  </a:cubicBezTo>
                  <a:lnTo>
                    <a:pt x="26604" y="876793"/>
                  </a:lnTo>
                  <a:cubicBezTo>
                    <a:pt x="19548" y="876793"/>
                    <a:pt x="12781" y="873990"/>
                    <a:pt x="7792" y="869001"/>
                  </a:cubicBezTo>
                  <a:cubicBezTo>
                    <a:pt x="2803" y="864011"/>
                    <a:pt x="0" y="857244"/>
                    <a:pt x="0" y="850189"/>
                  </a:cubicBezTo>
                  <a:lnTo>
                    <a:pt x="0" y="26604"/>
                  </a:lnTo>
                  <a:cubicBezTo>
                    <a:pt x="0" y="11911"/>
                    <a:pt x="11911" y="0"/>
                    <a:pt x="26604" y="0"/>
                  </a:cubicBezTo>
                  <a:lnTo>
                    <a:pt x="3805567" y="0"/>
                  </a:lnTo>
                  <a:cubicBezTo>
                    <a:pt x="3820260" y="0"/>
                    <a:pt x="3832171" y="11911"/>
                    <a:pt x="3832171" y="26604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832171" cy="924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14141" y="5694419"/>
            <a:ext cx="115579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: គេមានអំណះអំណាងមួយគឺ f(a) = &lt;&lt; 16 ចែកដាច់នឹង a &gt;&gt; ។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3219" y="5243572"/>
            <a:ext cx="12780525" cy="3329450"/>
            <a:chOff x="0" y="0"/>
            <a:chExt cx="3366049" cy="8767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66048" cy="876793"/>
            </a:xfrm>
            <a:custGeom>
              <a:avLst/>
              <a:gdLst/>
              <a:ahLst/>
              <a:cxnLst/>
              <a:rect r="r" b="b" t="t" l="l"/>
              <a:pathLst>
                <a:path h="876793" w="3366048">
                  <a:moveTo>
                    <a:pt x="3366048" y="30288"/>
                  </a:moveTo>
                  <a:lnTo>
                    <a:pt x="3366048" y="846505"/>
                  </a:lnTo>
                  <a:cubicBezTo>
                    <a:pt x="3366048" y="863232"/>
                    <a:pt x="3352488" y="876793"/>
                    <a:pt x="3335760" y="876793"/>
                  </a:cubicBezTo>
                  <a:lnTo>
                    <a:pt x="30288" y="876793"/>
                  </a:lnTo>
                  <a:cubicBezTo>
                    <a:pt x="13560" y="876793"/>
                    <a:pt x="0" y="863232"/>
                    <a:pt x="0" y="846505"/>
                  </a:cubicBezTo>
                  <a:lnTo>
                    <a:pt x="0" y="30288"/>
                  </a:lnTo>
                  <a:cubicBezTo>
                    <a:pt x="0" y="13560"/>
                    <a:pt x="13560" y="0"/>
                    <a:pt x="30288" y="0"/>
                  </a:cubicBezTo>
                  <a:lnTo>
                    <a:pt x="3335760" y="0"/>
                  </a:lnTo>
                  <a:cubicBezTo>
                    <a:pt x="3352488" y="0"/>
                    <a:pt x="3366048" y="13560"/>
                    <a:pt x="3366048" y="30288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5715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366049" cy="924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14201" y="6599294"/>
            <a:ext cx="802386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យើងប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ាន: </a:t>
            </a:r>
          </a:p>
          <a:p>
            <a:pPr algn="just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f(4) =&lt;&lt; 16 ចែកដាច់នឹង 4 &gt;&gt;ជាបកាសន៍ពិត។</a:t>
            </a:r>
          </a:p>
          <a:p>
            <a:pPr algn="just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f(6) =&lt;&lt; 16 ចែកដាច់នឹង 6 &gt;&gt; ជាបកាសន៍មិនពិត។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293" y="547688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3356202" cy="125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4860"/>
                </a:lnSpc>
                <a:buAutoNum type="arabicPeriod" startAt="1"/>
              </a:pPr>
              <a:r>
                <a:rPr lang="en-US" b="true" sz="4500">
                  <a:solidFill>
                    <a:srgbClr val="233D9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សមមូលតក្កៈ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3219" y="1603428"/>
            <a:ext cx="17315677" cy="1626003"/>
            <a:chOff x="0" y="0"/>
            <a:chExt cx="4560486" cy="4281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60486" cy="428199"/>
            </a:xfrm>
            <a:custGeom>
              <a:avLst/>
              <a:gdLst/>
              <a:ahLst/>
              <a:cxnLst/>
              <a:rect r="r" b="b" t="t" l="l"/>
              <a:pathLst>
                <a:path h="428199" w="4560486">
                  <a:moveTo>
                    <a:pt x="4560486" y="22355"/>
                  </a:moveTo>
                  <a:lnTo>
                    <a:pt x="4560486" y="405844"/>
                  </a:lnTo>
                  <a:cubicBezTo>
                    <a:pt x="4560486" y="418190"/>
                    <a:pt x="4550478" y="428199"/>
                    <a:pt x="4538131" y="428199"/>
                  </a:cubicBezTo>
                  <a:lnTo>
                    <a:pt x="22355" y="428199"/>
                  </a:lnTo>
                  <a:cubicBezTo>
                    <a:pt x="10009" y="428199"/>
                    <a:pt x="0" y="418190"/>
                    <a:pt x="0" y="40584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560486" cy="475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600905"/>
            <a:ext cx="153876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:  គេមាន -( p A q ) និង -p V -q ។បង្ហាញថាបកាសន៍សមាសទាំងពីរនេះសមមូលតក្កៈគ្នា។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3219" y="3324680"/>
            <a:ext cx="17315677" cy="5967176"/>
            <a:chOff x="0" y="0"/>
            <a:chExt cx="4560486" cy="15714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60486" cy="1571424"/>
            </a:xfrm>
            <a:custGeom>
              <a:avLst/>
              <a:gdLst/>
              <a:ahLst/>
              <a:cxnLst/>
              <a:rect r="r" b="b" t="t" l="l"/>
              <a:pathLst>
                <a:path h="1571424" w="4560486">
                  <a:moveTo>
                    <a:pt x="4560486" y="22355"/>
                  </a:moveTo>
                  <a:lnTo>
                    <a:pt x="4560486" y="1549068"/>
                  </a:lnTo>
                  <a:cubicBezTo>
                    <a:pt x="4560486" y="1561415"/>
                    <a:pt x="4550478" y="1571424"/>
                    <a:pt x="4538131" y="1571424"/>
                  </a:cubicBezTo>
                  <a:lnTo>
                    <a:pt x="22355" y="1571424"/>
                  </a:lnTo>
                  <a:cubicBezTo>
                    <a:pt x="10009" y="1571424"/>
                    <a:pt x="0" y="1561415"/>
                    <a:pt x="0" y="154906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560486" cy="161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5842346"/>
            <a:ext cx="5228968" cy="3010618"/>
          </a:xfrm>
          <a:custGeom>
            <a:avLst/>
            <a:gdLst/>
            <a:ahLst/>
            <a:cxnLst/>
            <a:rect r="r" b="b" t="t" l="l"/>
            <a:pathLst>
              <a:path h="3010618" w="5228968">
                <a:moveTo>
                  <a:pt x="0" y="0"/>
                </a:moveTo>
                <a:lnTo>
                  <a:pt x="5228968" y="0"/>
                </a:lnTo>
                <a:lnTo>
                  <a:pt x="5228968" y="3010618"/>
                </a:lnTo>
                <a:lnTo>
                  <a:pt x="0" y="3010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66814" y="5877525"/>
            <a:ext cx="4728488" cy="2940260"/>
          </a:xfrm>
          <a:custGeom>
            <a:avLst/>
            <a:gdLst/>
            <a:ahLst/>
            <a:cxnLst/>
            <a:rect r="r" b="b" t="t" l="l"/>
            <a:pathLst>
              <a:path h="2940260" w="4728488">
                <a:moveTo>
                  <a:pt x="0" y="0"/>
                </a:moveTo>
                <a:lnTo>
                  <a:pt x="4728487" y="0"/>
                </a:lnTo>
                <a:lnTo>
                  <a:pt x="4728487" y="2940260"/>
                </a:lnTo>
                <a:lnTo>
                  <a:pt x="0" y="2940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887028"/>
            <a:ext cx="1689400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សមមូលតក្កៈ ដោយគេអាចថាបកាសន៍សមាសពីរ P(p, q, r, …), Q(p, q, r, …) សមមូលតក្កៈ ឬ ស្មើគ្នា កំណត់សរសេរដោយ P(p, q, r, …) = Q(p, q, r, …) កាលណាបកាសន៍សមាសទាំងពីរមានតម្លៃភាពពិតដូចគ្នា។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99075" y="4439105"/>
            <a:ext cx="891718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យើងសង់តារាងភាពពិតនៃបកាសន៍សមាសទាំងពីរខាងក្រោម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1056" y="5137496"/>
            <a:ext cx="44336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តារាងភាពពិតនៃ - ( p A q 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80407" y="5137496"/>
            <a:ext cx="3790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តារាងភាពពិតនៃ -p V -q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12440281" y="5375621"/>
            <a:ext cx="0" cy="27784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870266" y="5755818"/>
            <a:ext cx="483519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ដោយជួរឈរចុងក្រោយនៃតារាងភាពពិតនៃបកាសន៍ទាំងពីរខាងលើ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មានតម្លៃភាពពិតដូចគ្នា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នាំឲ -( p A q ) = -p V -q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293" y="547688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3356202" cy="125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4860"/>
                </a:lnSpc>
                <a:buAutoNum type="arabicPeriod" startAt="1"/>
              </a:pPr>
              <a:r>
                <a:rPr lang="en-US" b="true" sz="4500">
                  <a:solidFill>
                    <a:srgbClr val="233D9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តូតូឡូហ្ស៊ី​ និង អង់តូឡូហ្ស៊ី (Tatology and Contradiction)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3219" y="1603428"/>
            <a:ext cx="15255704" cy="1969361"/>
            <a:chOff x="0" y="0"/>
            <a:chExt cx="4017944" cy="5186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17944" cy="518621"/>
            </a:xfrm>
            <a:custGeom>
              <a:avLst/>
              <a:gdLst/>
              <a:ahLst/>
              <a:cxnLst/>
              <a:rect r="r" b="b" t="t" l="l"/>
              <a:pathLst>
                <a:path h="518621" w="4017944">
                  <a:moveTo>
                    <a:pt x="4017944" y="25374"/>
                  </a:moveTo>
                  <a:lnTo>
                    <a:pt x="4017944" y="493247"/>
                  </a:lnTo>
                  <a:cubicBezTo>
                    <a:pt x="4017944" y="499976"/>
                    <a:pt x="4015271" y="506430"/>
                    <a:pt x="4010513" y="511189"/>
                  </a:cubicBezTo>
                  <a:cubicBezTo>
                    <a:pt x="4005754" y="515947"/>
                    <a:pt x="3999300" y="518621"/>
                    <a:pt x="3992570" y="518621"/>
                  </a:cubicBezTo>
                  <a:lnTo>
                    <a:pt x="25374" y="518621"/>
                  </a:lnTo>
                  <a:cubicBezTo>
                    <a:pt x="18644" y="518621"/>
                    <a:pt x="12190" y="515947"/>
                    <a:pt x="7432" y="511189"/>
                  </a:cubicBezTo>
                  <a:cubicBezTo>
                    <a:pt x="2673" y="506430"/>
                    <a:pt x="0" y="499976"/>
                    <a:pt x="0" y="493247"/>
                  </a:cubicBezTo>
                  <a:lnTo>
                    <a:pt x="0" y="25374"/>
                  </a:lnTo>
                  <a:cubicBezTo>
                    <a:pt x="0" y="18644"/>
                    <a:pt x="2673" y="12190"/>
                    <a:pt x="7432" y="7432"/>
                  </a:cubicBezTo>
                  <a:cubicBezTo>
                    <a:pt x="12190" y="2673"/>
                    <a:pt x="18644" y="0"/>
                    <a:pt x="25374" y="0"/>
                  </a:cubicBezTo>
                  <a:lnTo>
                    <a:pt x="3992570" y="0"/>
                  </a:lnTo>
                  <a:cubicBezTo>
                    <a:pt x="4006584" y="0"/>
                    <a:pt x="4017944" y="11360"/>
                    <a:pt x="4017944" y="25374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017944" cy="566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3887114"/>
            <a:ext cx="17315677" cy="5181364"/>
            <a:chOff x="0" y="0"/>
            <a:chExt cx="4560486" cy="13644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60486" cy="1364484"/>
            </a:xfrm>
            <a:custGeom>
              <a:avLst/>
              <a:gdLst/>
              <a:ahLst/>
              <a:cxnLst/>
              <a:rect r="r" b="b" t="t" l="l"/>
              <a:pathLst>
                <a:path h="1364484" w="4560486">
                  <a:moveTo>
                    <a:pt x="4560486" y="22355"/>
                  </a:moveTo>
                  <a:lnTo>
                    <a:pt x="4560486" y="1342129"/>
                  </a:lnTo>
                  <a:cubicBezTo>
                    <a:pt x="4560486" y="1354475"/>
                    <a:pt x="4550478" y="1364484"/>
                    <a:pt x="4538131" y="1364484"/>
                  </a:cubicBezTo>
                  <a:lnTo>
                    <a:pt x="22355" y="1364484"/>
                  </a:lnTo>
                  <a:cubicBezTo>
                    <a:pt x="10009" y="1364484"/>
                    <a:pt x="0" y="1354475"/>
                    <a:pt x="0" y="1342129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60486" cy="1412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41482" y="6166196"/>
            <a:ext cx="8374169" cy="2663948"/>
          </a:xfrm>
          <a:custGeom>
            <a:avLst/>
            <a:gdLst/>
            <a:ahLst/>
            <a:cxnLst/>
            <a:rect r="r" b="b" t="t" l="l"/>
            <a:pathLst>
              <a:path h="2663948" w="8374169">
                <a:moveTo>
                  <a:pt x="0" y="0"/>
                </a:moveTo>
                <a:lnTo>
                  <a:pt x="8374169" y="0"/>
                </a:lnTo>
                <a:lnTo>
                  <a:pt x="8374169" y="2663948"/>
                </a:lnTo>
                <a:lnTo>
                  <a:pt x="0" y="2663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970430"/>
            <a:ext cx="173156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តូតូឡូហ្សី ( Tautology ) ឬ ចីរសច្ចភាព ជាបកាសន៍សមាសដែល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ពិតជានិច្ច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737351"/>
            <a:ext cx="138951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97" indent="-329249" lvl="1">
              <a:lnSpc>
                <a:spcPts val="3660"/>
              </a:lnSpc>
              <a:buFont typeface="Arial"/>
              <a:buChar char="•"/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អង់ឡូហ្សី ( Contradiction ) ឬ ចីរអសច្ចភាព ជាបកាសន៍សមាសដែល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មិនពិតជានិច្ច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6888" y="4096664"/>
            <a:ext cx="1603648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: សង់តារាងភាពពិតនៃបកាសន៍សមាស p V -p និង p A -p ។ រួចវាយតម្លៃថាតើបកាសន៍សមាសណាមួយជា ចីរសច្ចភាព ហើយបកាសន៍ណាមួយជាចីរអសច្ចភាព។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1482" y="5356571"/>
            <a:ext cx="85451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ចម្លើយ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: សង់តារាងភាពពិតនៃបកាសន៍សមាសនិង p A -p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1046551" y="5594696"/>
            <a:ext cx="0" cy="27784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1209554" y="5903262"/>
            <a:ext cx="667289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ដោយជួរទី3 និងទី4 នៃតារាងភាពពិតខាងលើមានតម្លៃភាពពិត 1 ទាំងអស់ និង 0 ទាំងអស់រៀងគ្នា នាំឲ បកាសន៍ 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p V -p ជាចីរសច្ចភាព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និង បកាសន៍ </a:t>
            </a:r>
            <a:r>
              <a:rPr lang="en-US" sz="305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p A -p ជាចីរអសច្ចភាព</a:t>
            </a: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56903" y="2367598"/>
            <a:ext cx="4825389" cy="482538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3900000">
            <a:off x="7341954" y="7444556"/>
            <a:ext cx="1904706" cy="114907"/>
          </a:xfrm>
          <a:custGeom>
            <a:avLst/>
            <a:gdLst/>
            <a:ahLst/>
            <a:cxnLst/>
            <a:rect r="r" b="b" t="t" l="l"/>
            <a:pathLst>
              <a:path h="114907" w="1904706">
                <a:moveTo>
                  <a:pt x="1904707" y="0"/>
                </a:moveTo>
                <a:lnTo>
                  <a:pt x="0" y="0"/>
                </a:lnTo>
                <a:lnTo>
                  <a:pt x="0" y="114908"/>
                </a:lnTo>
                <a:lnTo>
                  <a:pt x="1904707" y="114908"/>
                </a:lnTo>
                <a:lnTo>
                  <a:pt x="1904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216" t="0" r="-3803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373008" y="3200885"/>
            <a:ext cx="4109284" cy="4109284"/>
          </a:xfrm>
          <a:custGeom>
            <a:avLst/>
            <a:gdLst/>
            <a:ahLst/>
            <a:cxnLst/>
            <a:rect r="r" b="b" t="t" l="l"/>
            <a:pathLst>
              <a:path h="4109284" w="4109284">
                <a:moveTo>
                  <a:pt x="0" y="0"/>
                </a:moveTo>
                <a:lnTo>
                  <a:pt x="4109284" y="0"/>
                </a:lnTo>
                <a:lnTo>
                  <a:pt x="4109284" y="4109285"/>
                </a:lnTo>
                <a:lnTo>
                  <a:pt x="0" y="41092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900000">
            <a:off x="8854174" y="1926865"/>
            <a:ext cx="1904706" cy="114907"/>
          </a:xfrm>
          <a:custGeom>
            <a:avLst/>
            <a:gdLst/>
            <a:ahLst/>
            <a:cxnLst/>
            <a:rect r="r" b="b" t="t" l="l"/>
            <a:pathLst>
              <a:path h="114907" w="1904706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216" t="0" r="-3803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3900000">
            <a:off x="7373569" y="1936390"/>
            <a:ext cx="1904706" cy="114907"/>
          </a:xfrm>
          <a:custGeom>
            <a:avLst/>
            <a:gdLst/>
            <a:ahLst/>
            <a:cxnLst/>
            <a:rect r="r" b="b" t="t" l="l"/>
            <a:pathLst>
              <a:path h="114907" w="1904706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216" t="0" r="-3803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3900000">
            <a:off x="8949424" y="7444556"/>
            <a:ext cx="1904706" cy="114907"/>
          </a:xfrm>
          <a:custGeom>
            <a:avLst/>
            <a:gdLst/>
            <a:ahLst/>
            <a:cxnLst/>
            <a:rect r="r" b="b" t="t" l="l"/>
            <a:pathLst>
              <a:path h="114907" w="1904706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216" t="0" r="-3803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3240000">
            <a:off x="10260432" y="6565606"/>
            <a:ext cx="753829" cy="114907"/>
          </a:xfrm>
          <a:custGeom>
            <a:avLst/>
            <a:gdLst/>
            <a:ahLst/>
            <a:cxnLst/>
            <a:rect r="r" b="b" t="t" l="l"/>
            <a:pathLst>
              <a:path h="114907" w="753829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73430" t="0" r="-9610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3240000">
            <a:off x="7227191" y="6565606"/>
            <a:ext cx="753829" cy="114907"/>
          </a:xfrm>
          <a:custGeom>
            <a:avLst/>
            <a:gdLst/>
            <a:ahLst/>
            <a:cxnLst/>
            <a:rect r="r" b="b" t="t" l="l"/>
            <a:pathLst>
              <a:path h="114907" w="753829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73430" t="0" r="-9610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3240000">
            <a:off x="7234101" y="2835983"/>
            <a:ext cx="767451" cy="114907"/>
          </a:xfrm>
          <a:custGeom>
            <a:avLst/>
            <a:gdLst/>
            <a:ahLst/>
            <a:cxnLst/>
            <a:rect r="r" b="b" t="t" l="l"/>
            <a:pathLst>
              <a:path h="114907" w="767451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8577" t="0" r="-94394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3240000">
            <a:off x="10156791" y="2835983"/>
            <a:ext cx="767451" cy="114907"/>
          </a:xfrm>
          <a:custGeom>
            <a:avLst/>
            <a:gdLst/>
            <a:ahLst/>
            <a:cxnLst/>
            <a:rect r="r" b="b" t="t" l="l"/>
            <a:pathLst>
              <a:path h="114907" w="767451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8577" t="0" r="-9439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11187" y="5429240"/>
            <a:ext cx="2785632" cy="114907"/>
          </a:xfrm>
          <a:custGeom>
            <a:avLst/>
            <a:gdLst/>
            <a:ahLst/>
            <a:cxnLst/>
            <a:rect r="r" b="b" t="t" l="l"/>
            <a:pathLst>
              <a:path h="114907" w="2785632">
                <a:moveTo>
                  <a:pt x="0" y="0"/>
                </a:moveTo>
                <a:lnTo>
                  <a:pt x="2785632" y="0"/>
                </a:lnTo>
                <a:lnTo>
                  <a:pt x="2785632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true" flipV="false" rot="0">
            <a:off x="5240875" y="5429240"/>
            <a:ext cx="2785632" cy="114907"/>
          </a:xfrm>
          <a:custGeom>
            <a:avLst/>
            <a:gdLst/>
            <a:ahLst/>
            <a:cxnLst/>
            <a:rect r="r" b="b" t="t" l="l"/>
            <a:pathLst>
              <a:path h="114907" w="2785632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111187" y="4032482"/>
            <a:ext cx="2785632" cy="114907"/>
          </a:xfrm>
          <a:custGeom>
            <a:avLst/>
            <a:gdLst/>
            <a:ahLst/>
            <a:cxnLst/>
            <a:rect r="r" b="b" t="t" l="l"/>
            <a:pathLst>
              <a:path h="114907" w="2785632">
                <a:moveTo>
                  <a:pt x="0" y="0"/>
                </a:moveTo>
                <a:lnTo>
                  <a:pt x="2785632" y="0"/>
                </a:lnTo>
                <a:lnTo>
                  <a:pt x="2785632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true" flipV="false" rot="0">
            <a:off x="5240875" y="4032482"/>
            <a:ext cx="2785632" cy="114907"/>
          </a:xfrm>
          <a:custGeom>
            <a:avLst/>
            <a:gdLst/>
            <a:ahLst/>
            <a:cxnLst/>
            <a:rect r="r" b="b" t="t" l="l"/>
            <a:pathLst>
              <a:path h="114907" w="2785632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true" flipV="false" rot="-5400000">
            <a:off x="8370613" y="7252716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7118104" y="2830926"/>
            <a:ext cx="3902987" cy="390298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03862" y="1087060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true" flipV="false" rot="0">
            <a:off x="6475166" y="1087060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0781099" y="2521319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0" y="0"/>
                </a:moveTo>
                <a:lnTo>
                  <a:pt x="1454858" y="0"/>
                </a:lnTo>
                <a:lnTo>
                  <a:pt x="1454858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true" flipV="false" rot="0">
            <a:off x="5909989" y="2521319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1454859" y="0"/>
                </a:moveTo>
                <a:lnTo>
                  <a:pt x="0" y="0"/>
                </a:lnTo>
                <a:lnTo>
                  <a:pt x="0" y="114908"/>
                </a:lnTo>
                <a:lnTo>
                  <a:pt x="1454859" y="114908"/>
                </a:lnTo>
                <a:lnTo>
                  <a:pt x="14548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true" flipV="false" rot="0">
            <a:off x="11948545" y="540534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3" y="1248063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964230" y="540534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4392730" y="1984318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true" flipV="false" rot="0">
            <a:off x="12520045" y="1974793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3" y="1248064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true" flipV="false" rot="0">
            <a:off x="13091545" y="3409053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3" y="1248063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true" flipV="false" rot="0">
            <a:off x="13091545" y="4843312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3" y="1248064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true" flipV="false" rot="0">
            <a:off x="12520045" y="6277572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3" y="1248063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true" flipV="false" rot="0">
            <a:off x="11948545" y="7711831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1227783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3" y="1248064"/>
                </a:lnTo>
                <a:lnTo>
                  <a:pt x="12277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0873925" y="6881551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0" y="0"/>
                </a:moveTo>
                <a:lnTo>
                  <a:pt x="1454858" y="0"/>
                </a:lnTo>
                <a:lnTo>
                  <a:pt x="1454858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true" flipV="false" rot="0">
            <a:off x="5906262" y="6881551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1454858" y="0"/>
                </a:moveTo>
                <a:lnTo>
                  <a:pt x="0" y="0"/>
                </a:lnTo>
                <a:lnTo>
                  <a:pt x="0" y="114908"/>
                </a:lnTo>
                <a:lnTo>
                  <a:pt x="1454858" y="114908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0299112" y="8335863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true" flipV="false" rot="0">
            <a:off x="6475928" y="8335863"/>
            <a:ext cx="1454858" cy="114907"/>
          </a:xfrm>
          <a:custGeom>
            <a:avLst/>
            <a:gdLst/>
            <a:ahLst/>
            <a:cxnLst/>
            <a:rect r="r" b="b" t="t" l="l"/>
            <a:pathLst>
              <a:path h="114907" w="1454858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147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821230" y="3428103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3821230" y="4871887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4392730" y="6315672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4964230" y="7759456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2340409" y="1010332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56094" y="1010332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40409" y="8181630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56094" y="8229255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11909" y="2444592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784594" y="2454117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11909" y="6747370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784594" y="6785470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83409" y="3878851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213094" y="3897901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483409" y="5313111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213094" y="5341686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2" b="-4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8455706" y="8219730"/>
            <a:ext cx="1227782" cy="1248063"/>
          </a:xfrm>
          <a:custGeom>
            <a:avLst/>
            <a:gdLst/>
            <a:ahLst/>
            <a:cxnLst/>
            <a:rect r="r" b="b" t="t" l="l"/>
            <a:pathLst>
              <a:path h="1248063" w="1227782">
                <a:moveTo>
                  <a:pt x="0" y="0"/>
                </a:moveTo>
                <a:lnTo>
                  <a:pt x="1227783" y="0"/>
                </a:lnTo>
                <a:lnTo>
                  <a:pt x="1227783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2" id="62"/>
          <p:cNvSpPr txBox="true"/>
          <p:nvPr/>
        </p:nvSpPr>
        <p:spPr>
          <a:xfrm rot="0">
            <a:off x="8917235" y="8686295"/>
            <a:ext cx="3114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07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653837" y="4478326"/>
            <a:ext cx="2980327" cy="133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2"/>
              </a:lnSpc>
              <a:spcBef>
                <a:spcPct val="0"/>
              </a:spcBef>
            </a:pPr>
            <a:r>
              <a:rPr lang="en-US" sz="45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ពីជគណិតនៃសំណើរ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373889" y="3258238"/>
            <a:ext cx="1334673" cy="98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2"/>
              </a:lnSpc>
            </a:pPr>
            <a:r>
              <a:rPr lang="en-US" b="true" sz="664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54047" y="868312"/>
            <a:ext cx="290310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លក្ខណៈអុីដឹមប៉ូតង់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308660" y="2311101"/>
            <a:ext cx="157924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លក្ខណៈផ្តុំ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31310" y="3814010"/>
            <a:ext cx="23546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លក្ខណៈត្រឡប់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92806" y="5306022"/>
            <a:ext cx="223170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លក្ខណៈបំបែក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42969" y="6788681"/>
            <a:ext cx="237351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លក្ខណៈខ្លួនឯង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302449" y="8201910"/>
            <a:ext cx="23546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លក្ខណៈបំពេញ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202595" y="9610668"/>
            <a:ext cx="36217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លក្ខណៈអាំងវ៉ូលុយស្យុង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491796" y="8145363"/>
            <a:ext cx="237351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លក្ខណៈដឺម៉កង់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224078" y="6636737"/>
            <a:ext cx="366903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លក្ខណៈផ្ទុយពីសម្មតិកម្ម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53608" y="5192952"/>
            <a:ext cx="260996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លក្ខណៈបណ្តាល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763014" y="3851810"/>
            <a:ext cx="26005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លក្ខណៈសមមូល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224078" y="2311101"/>
            <a:ext cx="285583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លក្ខណៈលំនាំចេញ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491796" y="906388"/>
            <a:ext cx="27234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5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លក្ខណៈស្រូបចូល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4,1. លក្ខណៈអីដឹមប៉ូតង់ (Idempotent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576607" y="3333785"/>
            <a:ext cx="6619026" cy="1134690"/>
          </a:xfrm>
          <a:custGeom>
            <a:avLst/>
            <a:gdLst/>
            <a:ahLst/>
            <a:cxnLst/>
            <a:rect r="r" b="b" t="t" l="l"/>
            <a:pathLst>
              <a:path h="1134690" w="6619026">
                <a:moveTo>
                  <a:pt x="0" y="0"/>
                </a:moveTo>
                <a:lnTo>
                  <a:pt x="6619027" y="0"/>
                </a:lnTo>
                <a:lnTo>
                  <a:pt x="6619027" y="1134691"/>
                </a:lnTo>
                <a:lnTo>
                  <a:pt x="0" y="1134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លក្ខណៈអីដឹមប៉ូតង់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ដែលប្រើសម្រាប់បង្ហាញថាគ្រប់សំណើឈ្នាប់និង ឬឈ្នាប់ឬ ដែលមានទំនាក់ទំនងជាមួយខ្លួនវាគឺនៅតែរក្សាតម្លៃដដែល។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604307"/>
            <a:ext cx="306752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លក្ខណៈអីដឹមប៉ូតង់: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4,2. លក្ខណៈផ្តុំ (Associative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689271" y="3333785"/>
            <a:ext cx="5975216" cy="1016679"/>
          </a:xfrm>
          <a:custGeom>
            <a:avLst/>
            <a:gdLst/>
            <a:ahLst/>
            <a:cxnLst/>
            <a:rect r="r" b="b" t="t" l="l"/>
            <a:pathLst>
              <a:path h="1016679" w="5975216">
                <a:moveTo>
                  <a:pt x="0" y="0"/>
                </a:moveTo>
                <a:lnTo>
                  <a:pt x="5975216" y="0"/>
                </a:lnTo>
                <a:lnTo>
                  <a:pt x="5975216" y="1016679"/>
                </a:lnTo>
                <a:lnTo>
                  <a:pt x="0" y="1016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លក្ខណៈផ្តុំ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ដែលប្រើសម្រាប់ផ្តុំកន្សោមនៃសំណើមួយទៅនឹងកន្សោមនៃសំណើមួយផ្សេងទៀត ដោយរក្សាតម្លៃភាពពិតនៅដដែល។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604307"/>
            <a:ext cx="176522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លក្ខណៈផ្តុំ: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4,3. </a:t>
              </a: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លក្ខណៈត្រឡប់ (Commutative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106636" y="3333785"/>
            <a:ext cx="8254884" cy="1080997"/>
          </a:xfrm>
          <a:custGeom>
            <a:avLst/>
            <a:gdLst/>
            <a:ahLst/>
            <a:cxnLst/>
            <a:rect r="r" b="b" t="t" l="l"/>
            <a:pathLst>
              <a:path h="1080997" w="8254884">
                <a:moveTo>
                  <a:pt x="0" y="0"/>
                </a:moveTo>
                <a:lnTo>
                  <a:pt x="8254885" y="0"/>
                </a:lnTo>
                <a:lnTo>
                  <a:pt x="8254885" y="1080997"/>
                </a:lnTo>
                <a:lnTo>
                  <a:pt x="0" y="1080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លក្ខណៈត្រឡប់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ដែលប្រើសម្រាប់ត្រឡប់សំណើពីរ ដែលភ្ជាប់ជាមួយឈ្នាប់និង ឬឈ្នាប់ឬ ដោយមិនមានផ្លាស់ប្តូរតម្លៃភាពដើមឡើយ។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604307"/>
            <a:ext cx="252805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លក្ខណៈត្រឡប់: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4,4. លក្ខណៈបំបែក (Distributive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97776" y="3163385"/>
            <a:ext cx="5588763" cy="1518686"/>
          </a:xfrm>
          <a:custGeom>
            <a:avLst/>
            <a:gdLst/>
            <a:ahLst/>
            <a:cxnLst/>
            <a:rect r="r" b="b" t="t" l="l"/>
            <a:pathLst>
              <a:path h="1518686" w="5588763">
                <a:moveTo>
                  <a:pt x="0" y="0"/>
                </a:moveTo>
                <a:lnTo>
                  <a:pt x="5588762" y="0"/>
                </a:lnTo>
                <a:lnTo>
                  <a:pt x="5588762" y="1518686"/>
                </a:lnTo>
                <a:lnTo>
                  <a:pt x="0" y="1518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លក្ខណៈបំបែក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ជាលក្ខណៈនៃច្បាប់តក្កៈវិទ្យា ដែលអាចឲយើងបំបែក ឬ រៀបចំសំណើរឡើងវិញ ដោយមិនឲប៉ះពាល់ដល់លទ្ធផលពិត។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602013"/>
            <a:ext cx="240708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លក្ខណៈបំបែក: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5139271"/>
            <a:ext cx="48219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ឧទាហរណ៍តាមច្បាប់គណិតវិទ្យា: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60577" y="5033287"/>
            <a:ext cx="4115226" cy="6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b="true" sz="3768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A(B + C) = AB + AC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998837"/>
            <a:ext cx="173156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52875" y="5998837"/>
            <a:ext cx="66344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តាង​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p = ខ្ញុំទៅសាលា, q = ខ្ញុំរៀន, r = ខ្ញុំគេង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7056112"/>
            <a:ext cx="44119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លក្ខណៈដើម : p A ( q V r 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32243" y="7818112"/>
            <a:ext cx="612683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នោះ: ខ្ញុំទៅសាលា ហើយ ខ្ញុំរៀន ឬ គេង។</a:t>
            </a:r>
          </a:p>
        </p:txBody>
      </p:sp>
      <p:sp>
        <p:nvSpPr>
          <p:cNvPr name="AutoShape 32" id="32"/>
          <p:cNvSpPr/>
          <p:nvPr/>
        </p:nvSpPr>
        <p:spPr>
          <a:xfrm flipH="true" flipV="true">
            <a:off x="9124950" y="7027674"/>
            <a:ext cx="0" cy="1999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459204" y="7056112"/>
            <a:ext cx="600003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លក្ខណៈបំបែក : ( p A q ) V ( p A r 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10328" y="7818112"/>
            <a:ext cx="833486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នោះ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: ខ្ញុំទៅសាលាហើយរៀន ឬ ខ្ញុំទៅសាលាហើយគេង។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4,5. លក្ខណៈខ្លួនឯង (Identity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844904" y="3333785"/>
            <a:ext cx="4071403" cy="1405821"/>
          </a:xfrm>
          <a:custGeom>
            <a:avLst/>
            <a:gdLst/>
            <a:ahLst/>
            <a:cxnLst/>
            <a:rect r="r" b="b" t="t" l="l"/>
            <a:pathLst>
              <a:path h="1405821" w="4071403">
                <a:moveTo>
                  <a:pt x="0" y="0"/>
                </a:moveTo>
                <a:lnTo>
                  <a:pt x="4071403" y="0"/>
                </a:lnTo>
                <a:lnTo>
                  <a:pt x="4071403" y="1405821"/>
                </a:lnTo>
                <a:lnTo>
                  <a:pt x="0" y="14058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07164" y="3220071"/>
            <a:ext cx="3942390" cy="1510458"/>
          </a:xfrm>
          <a:custGeom>
            <a:avLst/>
            <a:gdLst/>
            <a:ahLst/>
            <a:cxnLst/>
            <a:rect r="r" b="b" t="t" l="l"/>
            <a:pathLst>
              <a:path h="1510458" w="3942390">
                <a:moveTo>
                  <a:pt x="0" y="0"/>
                </a:moveTo>
                <a:lnTo>
                  <a:pt x="3942390" y="0"/>
                </a:lnTo>
                <a:lnTo>
                  <a:pt x="3942390" y="1510458"/>
                </a:lnTo>
                <a:lnTo>
                  <a:pt x="0" y="15104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លក្ខណៈខ្លួនឯង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ជាលក្ខណៈនៃច្បាប់តក្កៈវិទ្យា ដែលរាល់លទ្ធផលភាពពិត ឬមិនពិតរបស់វា អាស្រ័យលើខ្លួនវា រួមជាមួយឈ្នាប់និង ( A ),និង ឈ្នាប់ឬ ( V )។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8397229" y="3220071"/>
            <a:ext cx="0" cy="1509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3669044" y="6513876"/>
            <a:ext cx="4363136" cy="3547730"/>
          </a:xfrm>
          <a:custGeom>
            <a:avLst/>
            <a:gdLst/>
            <a:ahLst/>
            <a:cxnLst/>
            <a:rect r="r" b="b" t="t" l="l"/>
            <a:pathLst>
              <a:path h="3547730" w="4363136">
                <a:moveTo>
                  <a:pt x="0" y="0"/>
                </a:moveTo>
                <a:lnTo>
                  <a:pt x="4363136" y="0"/>
                </a:lnTo>
                <a:lnTo>
                  <a:pt x="4363136" y="3547730"/>
                </a:lnTo>
                <a:lnTo>
                  <a:pt x="0" y="35477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0948851" y="6513876"/>
            <a:ext cx="4151917" cy="3452941"/>
          </a:xfrm>
          <a:custGeom>
            <a:avLst/>
            <a:gdLst/>
            <a:ahLst/>
            <a:cxnLst/>
            <a:rect r="r" b="b" t="t" l="l"/>
            <a:pathLst>
              <a:path h="3452941" w="4151917">
                <a:moveTo>
                  <a:pt x="0" y="0"/>
                </a:moveTo>
                <a:lnTo>
                  <a:pt x="4151918" y="0"/>
                </a:lnTo>
                <a:lnTo>
                  <a:pt x="4151918" y="3452941"/>
                </a:lnTo>
                <a:lnTo>
                  <a:pt x="0" y="34529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1032248" y="3604307"/>
            <a:ext cx="233481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លក្ខណៈខ្លួនឯង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5139271"/>
            <a:ext cx="48219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ឧទាហរណ៍តាមច្បាប់គណិតវិទ្យា: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51630" y="5033287"/>
            <a:ext cx="4333120" cy="6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 b="true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+ 0 = 5,     5 * 1 = 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1352" y="584712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39656" y="5847126"/>
            <a:ext cx="51793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ឈ្នាប់និង ( តាង ភាពពិត = 1 )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97125" y="5847126"/>
            <a:ext cx="485536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ឈ្នាប់ឬ ( តាងភាពមិនពិត = 0 )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4,6. លក្ខណៈបំពេញ (Complement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46138" y="3310267"/>
            <a:ext cx="4817993" cy="1540580"/>
          </a:xfrm>
          <a:custGeom>
            <a:avLst/>
            <a:gdLst/>
            <a:ahLst/>
            <a:cxnLst/>
            <a:rect r="r" b="b" t="t" l="l"/>
            <a:pathLst>
              <a:path h="1540580" w="4817993">
                <a:moveTo>
                  <a:pt x="0" y="0"/>
                </a:moveTo>
                <a:lnTo>
                  <a:pt x="4817993" y="0"/>
                </a:lnTo>
                <a:lnTo>
                  <a:pt x="4817993" y="1540580"/>
                </a:lnTo>
                <a:lnTo>
                  <a:pt x="0" y="154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50809" y="3333785"/>
            <a:ext cx="5375662" cy="1113216"/>
          </a:xfrm>
          <a:custGeom>
            <a:avLst/>
            <a:gdLst/>
            <a:ahLst/>
            <a:cxnLst/>
            <a:rect r="r" b="b" t="t" l="l"/>
            <a:pathLst>
              <a:path h="1113216" w="5375662">
                <a:moveTo>
                  <a:pt x="0" y="0"/>
                </a:moveTo>
                <a:lnTo>
                  <a:pt x="5375662" y="0"/>
                </a:lnTo>
                <a:lnTo>
                  <a:pt x="5375662" y="1113216"/>
                </a:lnTo>
                <a:lnTo>
                  <a:pt x="0" y="111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H="true" flipV="true">
            <a:off x="9456653" y="3222702"/>
            <a:ext cx="0" cy="1509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450788" y="5852473"/>
            <a:ext cx="4298991" cy="3386282"/>
          </a:xfrm>
          <a:custGeom>
            <a:avLst/>
            <a:gdLst/>
            <a:ahLst/>
            <a:cxnLst/>
            <a:rect r="r" b="b" t="t" l="l"/>
            <a:pathLst>
              <a:path h="3386282" w="4298991">
                <a:moveTo>
                  <a:pt x="0" y="0"/>
                </a:moveTo>
                <a:lnTo>
                  <a:pt x="4298991" y="0"/>
                </a:lnTo>
                <a:lnTo>
                  <a:pt x="4298991" y="3386282"/>
                </a:lnTo>
                <a:lnTo>
                  <a:pt x="0" y="3386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68105" y="5852473"/>
            <a:ext cx="4430470" cy="3581179"/>
          </a:xfrm>
          <a:custGeom>
            <a:avLst/>
            <a:gdLst/>
            <a:ahLst/>
            <a:cxnLst/>
            <a:rect r="r" b="b" t="t" l="l"/>
            <a:pathLst>
              <a:path h="3581179" w="4430470">
                <a:moveTo>
                  <a:pt x="0" y="0"/>
                </a:moveTo>
                <a:lnTo>
                  <a:pt x="4430470" y="0"/>
                </a:lnTo>
                <a:lnTo>
                  <a:pt x="4430470" y="3581178"/>
                </a:lnTo>
                <a:lnTo>
                  <a:pt x="0" y="3581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349541" y="9291857"/>
            <a:ext cx="5816542" cy="912910"/>
          </a:xfrm>
          <a:custGeom>
            <a:avLst/>
            <a:gdLst/>
            <a:ahLst/>
            <a:cxnLst/>
            <a:rect r="r" b="b" t="t" l="l"/>
            <a:pathLst>
              <a:path h="912910" w="5816542">
                <a:moveTo>
                  <a:pt x="0" y="0"/>
                </a:moveTo>
                <a:lnTo>
                  <a:pt x="5816541" y="0"/>
                </a:lnTo>
                <a:lnTo>
                  <a:pt x="5816541" y="912910"/>
                </a:lnTo>
                <a:lnTo>
                  <a:pt x="0" y="912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446811" y="9201828"/>
            <a:ext cx="6306946" cy="1032046"/>
          </a:xfrm>
          <a:custGeom>
            <a:avLst/>
            <a:gdLst/>
            <a:ahLst/>
            <a:cxnLst/>
            <a:rect r="r" b="b" t="t" l="l"/>
            <a:pathLst>
              <a:path h="1032046" w="6306946">
                <a:moveTo>
                  <a:pt x="0" y="0"/>
                </a:moveTo>
                <a:lnTo>
                  <a:pt x="6306946" y="0"/>
                </a:lnTo>
                <a:lnTo>
                  <a:pt x="6306946" y="1032045"/>
                </a:lnTo>
                <a:lnTo>
                  <a:pt x="0" y="1032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លក្ខណៈបំពេញ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ដែលចង់ពណ៌នាអំពីទំនាក់ទំនងរវាងសំណើ p និងសំណើបដិសេធរបស់វា -p នៅពេលភ្ជាប់គ្នាដោយឈ្នាប់និង និង ឈ្នាប់ឬ ។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604307"/>
            <a:ext cx="24220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លក្ខណៈបំពេញ: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50788" y="5205946"/>
            <a:ext cx="51793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ឈ្នាប់និង ( តាង ភាពពិត = 1 )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97125" y="5205946"/>
            <a:ext cx="485536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ឈ្នាប់ឬ ( តាងភាពមិនពិត = 0 )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7063740" y="7027674"/>
            <a:ext cx="1234440" cy="517939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V="true">
            <a:off x="14462760" y="7027674"/>
            <a:ext cx="1402547" cy="615388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7" id="37"/>
          <p:cNvSpPr txBox="true"/>
          <p:nvPr/>
        </p:nvSpPr>
        <p:spPr>
          <a:xfrm rot="0">
            <a:off x="8454179" y="6546027"/>
            <a:ext cx="189536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025361" y="6546027"/>
            <a:ext cx="189536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4,7. លក្ខណៈអាំងវ៉ូលុយស្យុង (Involution Laws)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83467" y="3333785"/>
            <a:ext cx="4856356" cy="1350107"/>
          </a:xfrm>
          <a:custGeom>
            <a:avLst/>
            <a:gdLst/>
            <a:ahLst/>
            <a:cxnLst/>
            <a:rect r="r" b="b" t="t" l="l"/>
            <a:pathLst>
              <a:path h="1350107" w="4856356">
                <a:moveTo>
                  <a:pt x="0" y="0"/>
                </a:moveTo>
                <a:lnTo>
                  <a:pt x="4856356" y="0"/>
                </a:lnTo>
                <a:lnTo>
                  <a:pt x="4856356" y="1350108"/>
                </a:lnTo>
                <a:lnTo>
                  <a:pt x="0" y="1350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លក្ខណៈអាំងវ៉ូលុយស្យុង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ជាលក្ខណៈនៃច្បាប់តក្កវិទ្យាដែលចែងថា ការបដិសេធ 2 ដងនៃសំណើមួយគឺស្មើ ទៅនឹងសំណើរដើមនោះវិញ។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604307"/>
            <a:ext cx="37744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លក្ខណៈអាំងវ៉ូលុយស្យុង: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3219" y="4986871"/>
            <a:ext cx="17315677" cy="4081607"/>
            <a:chOff x="0" y="0"/>
            <a:chExt cx="4560486" cy="10748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0486" cy="1074869"/>
            </a:xfrm>
            <a:custGeom>
              <a:avLst/>
              <a:gdLst/>
              <a:ahLst/>
              <a:cxnLst/>
              <a:rect r="r" b="b" t="t" l="l"/>
              <a:pathLst>
                <a:path h="1074869" w="4560486">
                  <a:moveTo>
                    <a:pt x="4560486" y="22355"/>
                  </a:moveTo>
                  <a:lnTo>
                    <a:pt x="4560486" y="1052514"/>
                  </a:lnTo>
                  <a:cubicBezTo>
                    <a:pt x="4560486" y="1064860"/>
                    <a:pt x="4550478" y="1074869"/>
                    <a:pt x="4538131" y="1074869"/>
                  </a:cubicBezTo>
                  <a:lnTo>
                    <a:pt x="22355" y="1074869"/>
                  </a:lnTo>
                  <a:cubicBezTo>
                    <a:pt x="10009" y="1074869"/>
                    <a:pt x="0" y="1064860"/>
                    <a:pt x="0" y="1052514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560486" cy="1122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5139271"/>
            <a:ext cx="48219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ឧទាហរណ៍តាមច្បាប់គណិតវិទ្យា: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72184" y="5033287"/>
            <a:ext cx="1892013" cy="6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 b="true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-( -1 ) =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998837"/>
            <a:ext cx="173156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39660" y="5998837"/>
            <a:ext cx="368593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តាង p = ខ្ញុំមិនទៅសាលា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6856087"/>
            <a:ext cx="567451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លក្ខណៈអាំងវ៉ូលុយស្យុង : -( -p ) = 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5959" y="7713337"/>
            <a:ext cx="657820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នោះ : ខ្ញុំមិនទៅ មិនទៅសាលា = ខ្ញុំទៅសាលា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4,8. លក្ខណៈដឺម៉កង់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39767" y="3166157"/>
            <a:ext cx="5904233" cy="1444069"/>
          </a:xfrm>
          <a:custGeom>
            <a:avLst/>
            <a:gdLst/>
            <a:ahLst/>
            <a:cxnLst/>
            <a:rect r="r" b="b" t="t" l="l"/>
            <a:pathLst>
              <a:path h="1444069" w="5904233">
                <a:moveTo>
                  <a:pt x="0" y="0"/>
                </a:moveTo>
                <a:lnTo>
                  <a:pt x="5904233" y="0"/>
                </a:lnTo>
                <a:lnTo>
                  <a:pt x="5904233" y="1444069"/>
                </a:lnTo>
                <a:lnTo>
                  <a:pt x="0" y="1444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3219" y="4986871"/>
            <a:ext cx="17315677" cy="4251884"/>
            <a:chOff x="0" y="0"/>
            <a:chExt cx="4560486" cy="11197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0486" cy="1119711"/>
            </a:xfrm>
            <a:custGeom>
              <a:avLst/>
              <a:gdLst/>
              <a:ahLst/>
              <a:cxnLst/>
              <a:rect r="r" b="b" t="t" l="l"/>
              <a:pathLst>
                <a:path h="1119711" w="4560486">
                  <a:moveTo>
                    <a:pt x="4560486" y="22355"/>
                  </a:moveTo>
                  <a:lnTo>
                    <a:pt x="4560486" y="1097355"/>
                  </a:lnTo>
                  <a:cubicBezTo>
                    <a:pt x="4560486" y="1109702"/>
                    <a:pt x="4550478" y="1119711"/>
                    <a:pt x="4538131" y="1119711"/>
                  </a:cubicBezTo>
                  <a:lnTo>
                    <a:pt x="22355" y="1119711"/>
                  </a:lnTo>
                  <a:cubicBezTo>
                    <a:pt x="10009" y="1119711"/>
                    <a:pt x="0" y="1109702"/>
                    <a:pt x="0" y="1097355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60486" cy="116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608334" y="5682196"/>
            <a:ext cx="5578268" cy="3304861"/>
          </a:xfrm>
          <a:custGeom>
            <a:avLst/>
            <a:gdLst/>
            <a:ahLst/>
            <a:cxnLst/>
            <a:rect r="r" b="b" t="t" l="l"/>
            <a:pathLst>
              <a:path h="3304861" w="5578268">
                <a:moveTo>
                  <a:pt x="0" y="0"/>
                </a:moveTo>
                <a:lnTo>
                  <a:pt x="5578268" y="0"/>
                </a:lnTo>
                <a:lnTo>
                  <a:pt x="5578268" y="3304861"/>
                </a:lnTo>
                <a:lnTo>
                  <a:pt x="0" y="3304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30242" y="5625046"/>
            <a:ext cx="5571332" cy="3362011"/>
          </a:xfrm>
          <a:custGeom>
            <a:avLst/>
            <a:gdLst/>
            <a:ahLst/>
            <a:cxnLst/>
            <a:rect r="r" b="b" t="t" l="l"/>
            <a:pathLst>
              <a:path h="3362011" w="5571332">
                <a:moveTo>
                  <a:pt x="0" y="0"/>
                </a:moveTo>
                <a:lnTo>
                  <a:pt x="5571332" y="0"/>
                </a:lnTo>
                <a:lnTo>
                  <a:pt x="5571332" y="3362011"/>
                </a:lnTo>
                <a:lnTo>
                  <a:pt x="0" y="3362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2089832"/>
            <a:ext cx="168940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លក្ខណៈដឺម៉កង់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ដែលពណ៌នាអំពីឥទ្ធិពលនៃឈ្នាប់មិន ទៅលើឈ្នាប់ផ្សេងៗទៀត។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604307"/>
            <a:ext cx="24220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លក្ខណៈបំពេញ: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0242" y="3604307"/>
            <a:ext cx="111406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ចំណាំ​ 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11311" y="3314735"/>
            <a:ext cx="741139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បើប្រើឈ្នាប់មិន លើកន្សោមនៃឈ្នាប់និង នោះ កន្សោមឈ្នាប់និង នឹងប្តូរពី ឈ្នាប់និង ទៅជាឈ្នាប់ឬ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08702" y="5205946"/>
            <a:ext cx="2539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កន្សោមឈ្នាប់និង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75703" y="5205946"/>
            <a:ext cx="480964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កន្សោមឈ្នាប់ឬ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4,9. លក្ខណៈផ្ទុយពីសម្មតិកម្ម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01101" y="3333785"/>
            <a:ext cx="5944432" cy="1241145"/>
          </a:xfrm>
          <a:custGeom>
            <a:avLst/>
            <a:gdLst/>
            <a:ahLst/>
            <a:cxnLst/>
            <a:rect r="r" b="b" t="t" l="l"/>
            <a:pathLst>
              <a:path h="1241145" w="5944432">
                <a:moveTo>
                  <a:pt x="0" y="0"/>
                </a:moveTo>
                <a:lnTo>
                  <a:pt x="5944431" y="0"/>
                </a:lnTo>
                <a:lnTo>
                  <a:pt x="5944431" y="1241146"/>
                </a:lnTo>
                <a:lnTo>
                  <a:pt x="0" y="1241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3219" y="5143500"/>
            <a:ext cx="17315677" cy="4450988"/>
            <a:chOff x="0" y="0"/>
            <a:chExt cx="4560486" cy="1172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224697" y="5629094"/>
            <a:ext cx="4152807" cy="3609661"/>
          </a:xfrm>
          <a:custGeom>
            <a:avLst/>
            <a:gdLst/>
            <a:ahLst/>
            <a:cxnLst/>
            <a:rect r="r" b="b" t="t" l="l"/>
            <a:pathLst>
              <a:path h="3609661" w="4152807">
                <a:moveTo>
                  <a:pt x="0" y="0"/>
                </a:moveTo>
                <a:lnTo>
                  <a:pt x="4152807" y="0"/>
                </a:lnTo>
                <a:lnTo>
                  <a:pt x="4152807" y="3609661"/>
                </a:lnTo>
                <a:lnTo>
                  <a:pt x="0" y="36096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75703" y="5629094"/>
            <a:ext cx="6255237" cy="3662763"/>
          </a:xfrm>
          <a:custGeom>
            <a:avLst/>
            <a:gdLst/>
            <a:ahLst/>
            <a:cxnLst/>
            <a:rect r="r" b="b" t="t" l="l"/>
            <a:pathLst>
              <a:path h="3662763" w="6255237">
                <a:moveTo>
                  <a:pt x="0" y="0"/>
                </a:moveTo>
                <a:lnTo>
                  <a:pt x="6255238" y="0"/>
                </a:lnTo>
                <a:lnTo>
                  <a:pt x="6255238" y="3662763"/>
                </a:lnTo>
                <a:lnTo>
                  <a:pt x="0" y="36627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លក្ខណៈផ្ទុយពីសម្មតិកម្ម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ជាលក្ខណៈនៃច្បាប់តក្កវិទ្យាដែលចែងថា សំណើលក្ខខណ្ឌមួយ តែងតែមានតម្លៃភាពពិតស្មើគ្នា (សមមូលតក្កៈ) ទៅនឹងសំណើរបដិសេធបញ្រ្ចាសរបស់វា។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604307"/>
            <a:ext cx="39268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លក្ខណៈផ្ទុយពីសម្មតិកម្ម :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02739" y="5205946"/>
            <a:ext cx="319672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កន្សោមសំណើដើម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27303" y="5205946"/>
            <a:ext cx="51520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កន្សោមសំណើរបញ្ច្រាស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4,10. លក្ខណៈបណ្តាល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70918" y="3562385"/>
            <a:ext cx="7341518" cy="518171"/>
          </a:xfrm>
          <a:custGeom>
            <a:avLst/>
            <a:gdLst/>
            <a:ahLst/>
            <a:cxnLst/>
            <a:rect r="r" b="b" t="t" l="l"/>
            <a:pathLst>
              <a:path h="518171" w="7341518">
                <a:moveTo>
                  <a:pt x="0" y="0"/>
                </a:moveTo>
                <a:lnTo>
                  <a:pt x="7341518" y="0"/>
                </a:lnTo>
                <a:lnTo>
                  <a:pt x="7341518" y="518172"/>
                </a:lnTo>
                <a:lnTo>
                  <a:pt x="0" y="518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61802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3219" y="4986871"/>
            <a:ext cx="17315677" cy="4450988"/>
            <a:chOff x="0" y="0"/>
            <a:chExt cx="4560486" cy="1172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243271" y="6083455"/>
            <a:ext cx="4289584" cy="4064409"/>
          </a:xfrm>
          <a:custGeom>
            <a:avLst/>
            <a:gdLst/>
            <a:ahLst/>
            <a:cxnLst/>
            <a:rect r="r" b="b" t="t" l="l"/>
            <a:pathLst>
              <a:path h="4064409" w="4289584">
                <a:moveTo>
                  <a:pt x="0" y="0"/>
                </a:moveTo>
                <a:lnTo>
                  <a:pt x="4289584" y="0"/>
                </a:lnTo>
                <a:lnTo>
                  <a:pt x="4289584" y="4064409"/>
                </a:lnTo>
                <a:lnTo>
                  <a:pt x="0" y="4064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78552" y="6323376"/>
            <a:ext cx="9080748" cy="3567437"/>
          </a:xfrm>
          <a:custGeom>
            <a:avLst/>
            <a:gdLst/>
            <a:ahLst/>
            <a:cxnLst/>
            <a:rect r="r" b="b" t="t" l="l"/>
            <a:pathLst>
              <a:path h="3567437" w="9080748">
                <a:moveTo>
                  <a:pt x="0" y="0"/>
                </a:moveTo>
                <a:lnTo>
                  <a:pt x="9080748" y="0"/>
                </a:lnTo>
                <a:lnTo>
                  <a:pt x="9080748" y="3567436"/>
                </a:lnTo>
                <a:lnTo>
                  <a:pt x="0" y="35674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លក្ខណៈបណ្តាល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ដែលប្រើសម្រាប់បំលែងសំណើនៃឈ្នាប់នាំឲ ទៅជាសំណើផ្សំដោយឈ្នាប់ឬ ឬ ឈ្នាប់នឹង ដោយរក្សាតម្លៃពិតដដែល។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604307"/>
            <a:ext cx="28850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លក្ខណៈបណ្តាល :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139271"/>
            <a:ext cx="48219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ឧទាហរណ៍តាមច្បាប់គណិតវិទ្យា: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20438" y="5033287"/>
            <a:ext cx="3795504" cy="6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3768" b="true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 x - y) = -( -x + y 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1352" y="584712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Freeform 31" id="31"/>
          <p:cNvSpPr/>
          <p:nvPr/>
        </p:nvSpPr>
        <p:spPr>
          <a:xfrm>
            <a:off x="10215942" y="3800338"/>
            <a:ext cx="3321481" cy="2294437"/>
          </a:xfrm>
          <a:custGeom>
            <a:avLst/>
            <a:gdLst/>
            <a:ahLst/>
            <a:cxnLst/>
            <a:rect r="r" b="b" t="t" l="l"/>
            <a:pathLst>
              <a:path h="2294437" w="3321481">
                <a:moveTo>
                  <a:pt x="0" y="0"/>
                </a:moveTo>
                <a:lnTo>
                  <a:pt x="3092881" y="0"/>
                </a:lnTo>
                <a:cubicBezTo>
                  <a:pt x="3219134" y="0"/>
                  <a:pt x="3321481" y="102348"/>
                  <a:pt x="3321481" y="228600"/>
                </a:cubicBezTo>
                <a:lnTo>
                  <a:pt x="3321481" y="2294438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4,10. លក្ខណៈបណ្តាល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46355" y="1938005"/>
            <a:ext cx="3248820" cy="759272"/>
          </a:xfrm>
          <a:custGeom>
            <a:avLst/>
            <a:gdLst/>
            <a:ahLst/>
            <a:cxnLst/>
            <a:rect r="r" b="b" t="t" l="l"/>
            <a:pathLst>
              <a:path h="759272" w="3248820">
                <a:moveTo>
                  <a:pt x="0" y="0"/>
                </a:moveTo>
                <a:lnTo>
                  <a:pt x="3248820" y="0"/>
                </a:lnTo>
                <a:lnTo>
                  <a:pt x="3248820" y="759272"/>
                </a:lnTo>
                <a:lnTo>
                  <a:pt x="0" y="759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8669" r="-125974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3219" y="4986871"/>
            <a:ext cx="17315677" cy="4450988"/>
            <a:chOff x="0" y="0"/>
            <a:chExt cx="4560486" cy="1172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>
            <a:off x="6347548" y="2317641"/>
            <a:ext cx="1076227" cy="3335983"/>
          </a:xfrm>
          <a:custGeom>
            <a:avLst/>
            <a:gdLst/>
            <a:ahLst/>
            <a:cxnLst/>
            <a:rect r="r" b="b" t="t" l="l"/>
            <a:pathLst>
              <a:path h="3335983" w="1076227">
                <a:moveTo>
                  <a:pt x="847627" y="0"/>
                </a:moveTo>
                <a:lnTo>
                  <a:pt x="961927" y="0"/>
                </a:lnTo>
                <a:cubicBezTo>
                  <a:pt x="992241" y="0"/>
                  <a:pt x="1021314" y="12043"/>
                  <a:pt x="1042749" y="33478"/>
                </a:cubicBezTo>
                <a:cubicBezTo>
                  <a:pt x="1064185" y="54914"/>
                  <a:pt x="1076227" y="83986"/>
                  <a:pt x="1076227" y="114300"/>
                </a:cubicBezTo>
                <a:lnTo>
                  <a:pt x="1076227" y="2583505"/>
                </a:lnTo>
                <a:cubicBezTo>
                  <a:pt x="1076227" y="2709757"/>
                  <a:pt x="973879" y="2812105"/>
                  <a:pt x="847627" y="2812105"/>
                </a:cubicBezTo>
                <a:lnTo>
                  <a:pt x="228600" y="2812105"/>
                </a:lnTo>
                <a:cubicBezTo>
                  <a:pt x="167971" y="2812105"/>
                  <a:pt x="109826" y="2836189"/>
                  <a:pt x="66955" y="2879060"/>
                </a:cubicBezTo>
                <a:cubicBezTo>
                  <a:pt x="24085" y="2921931"/>
                  <a:pt x="0" y="2980076"/>
                  <a:pt x="0" y="3040705"/>
                </a:cubicBezTo>
                <a:lnTo>
                  <a:pt x="0" y="3335983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0043376" y="5586946"/>
            <a:ext cx="7879331" cy="3355265"/>
          </a:xfrm>
          <a:custGeom>
            <a:avLst/>
            <a:gdLst/>
            <a:ahLst/>
            <a:cxnLst/>
            <a:rect r="r" b="b" t="t" l="l"/>
            <a:pathLst>
              <a:path h="3355265" w="7879331">
                <a:moveTo>
                  <a:pt x="0" y="0"/>
                </a:moveTo>
                <a:lnTo>
                  <a:pt x="7879331" y="0"/>
                </a:lnTo>
                <a:lnTo>
                  <a:pt x="7879331" y="3355265"/>
                </a:lnTo>
                <a:lnTo>
                  <a:pt x="0" y="3355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653845" y="5586946"/>
            <a:ext cx="7133431" cy="3413418"/>
          </a:xfrm>
          <a:custGeom>
            <a:avLst/>
            <a:gdLst/>
            <a:ahLst/>
            <a:cxnLst/>
            <a:rect r="r" b="b" t="t" l="l"/>
            <a:pathLst>
              <a:path h="3413418" w="7133431">
                <a:moveTo>
                  <a:pt x="0" y="0"/>
                </a:moveTo>
                <a:lnTo>
                  <a:pt x="7133431" y="0"/>
                </a:lnTo>
                <a:lnTo>
                  <a:pt x="7133431" y="3413418"/>
                </a:lnTo>
                <a:lnTo>
                  <a:pt x="0" y="34134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61352" y="2221027"/>
            <a:ext cx="28850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លក្ខណៈបណ្តាល :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1352" y="584712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941424" y="1982251"/>
            <a:ext cx="3956746" cy="715027"/>
          </a:xfrm>
          <a:custGeom>
            <a:avLst/>
            <a:gdLst/>
            <a:ahLst/>
            <a:cxnLst/>
            <a:rect r="r" b="b" t="t" l="l"/>
            <a:pathLst>
              <a:path h="715027" w="3956746">
                <a:moveTo>
                  <a:pt x="0" y="0"/>
                </a:moveTo>
                <a:lnTo>
                  <a:pt x="3956746" y="0"/>
                </a:lnTo>
                <a:lnTo>
                  <a:pt x="3956746" y="715026"/>
                </a:lnTo>
                <a:lnTo>
                  <a:pt x="0" y="715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544" t="-89725" r="0" b="0"/>
            </a:stretch>
          </a:blipFill>
        </p:spPr>
      </p:sp>
      <p:sp>
        <p:nvSpPr>
          <p:cNvPr name="Freeform 30" id="30"/>
          <p:cNvSpPr/>
          <p:nvPr/>
        </p:nvSpPr>
        <p:spPr>
          <a:xfrm>
            <a:off x="14002091" y="2358814"/>
            <a:ext cx="1076227" cy="3335983"/>
          </a:xfrm>
          <a:custGeom>
            <a:avLst/>
            <a:gdLst/>
            <a:ahLst/>
            <a:cxnLst/>
            <a:rect r="r" b="b" t="t" l="l"/>
            <a:pathLst>
              <a:path h="3335983" w="1076227">
                <a:moveTo>
                  <a:pt x="847627" y="0"/>
                </a:moveTo>
                <a:lnTo>
                  <a:pt x="961927" y="0"/>
                </a:lnTo>
                <a:cubicBezTo>
                  <a:pt x="992242" y="0"/>
                  <a:pt x="1021314" y="12042"/>
                  <a:pt x="1042750" y="33478"/>
                </a:cubicBezTo>
                <a:cubicBezTo>
                  <a:pt x="1064185" y="54913"/>
                  <a:pt x="1076227" y="83986"/>
                  <a:pt x="1076227" y="114300"/>
                </a:cubicBezTo>
                <a:lnTo>
                  <a:pt x="1076227" y="2583504"/>
                </a:lnTo>
                <a:cubicBezTo>
                  <a:pt x="1076227" y="2644133"/>
                  <a:pt x="1052144" y="2702278"/>
                  <a:pt x="1009272" y="2745149"/>
                </a:cubicBezTo>
                <a:cubicBezTo>
                  <a:pt x="966402" y="2788020"/>
                  <a:pt x="908256" y="2812104"/>
                  <a:pt x="847627" y="2812104"/>
                </a:cubicBezTo>
                <a:lnTo>
                  <a:pt x="228600" y="2812104"/>
                </a:lnTo>
                <a:cubicBezTo>
                  <a:pt x="167971" y="2812104"/>
                  <a:pt x="109826" y="2836189"/>
                  <a:pt x="66956" y="2879060"/>
                </a:cubicBezTo>
                <a:cubicBezTo>
                  <a:pt x="24085" y="2921931"/>
                  <a:pt x="0" y="2980076"/>
                  <a:pt x="0" y="3040704"/>
                </a:cubicBezTo>
                <a:lnTo>
                  <a:pt x="0" y="3335983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4,11. </a:t>
              </a: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លក្ខណៈសមមូល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450988"/>
            <a:chOff x="0" y="0"/>
            <a:chExt cx="4560486" cy="1172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353507" y="3379486"/>
            <a:ext cx="7717027" cy="944942"/>
          </a:xfrm>
          <a:custGeom>
            <a:avLst/>
            <a:gdLst/>
            <a:ahLst/>
            <a:cxnLst/>
            <a:rect r="r" b="b" t="t" l="l"/>
            <a:pathLst>
              <a:path h="944942" w="7717027">
                <a:moveTo>
                  <a:pt x="0" y="0"/>
                </a:moveTo>
                <a:lnTo>
                  <a:pt x="7717027" y="0"/>
                </a:lnTo>
                <a:lnTo>
                  <a:pt x="7717027" y="944942"/>
                </a:lnTo>
                <a:lnTo>
                  <a:pt x="0" y="944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498093" y="4832158"/>
            <a:ext cx="11291814" cy="4760413"/>
          </a:xfrm>
          <a:custGeom>
            <a:avLst/>
            <a:gdLst/>
            <a:ahLst/>
            <a:cxnLst/>
            <a:rect r="r" b="b" t="t" l="l"/>
            <a:pathLst>
              <a:path h="4760413" w="11291814">
                <a:moveTo>
                  <a:pt x="0" y="0"/>
                </a:moveTo>
                <a:lnTo>
                  <a:pt x="11291814" y="0"/>
                </a:lnTo>
                <a:lnTo>
                  <a:pt x="11291814" y="4760413"/>
                </a:lnTo>
                <a:lnTo>
                  <a:pt x="0" y="4760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លក្ខណៈសមមូល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ដែលប្រើសម្រាប់បំលែងសំណើនៃឈ្នាប់នាំឲ ទៅជាសំណើផ្សំដោយឈ្នាប់ឬ ឬ ឈ្នាប់នឹង ដោយរក្សាតម្លៃពិតដដែល។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604307"/>
            <a:ext cx="28757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លក្ខណៈសមមូល :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4,12. លក្ខណៈលំនាំចេញ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450988"/>
            <a:chOff x="0" y="0"/>
            <a:chExt cx="4560486" cy="1172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528769" y="3281974"/>
            <a:ext cx="6756882" cy="1139965"/>
          </a:xfrm>
          <a:custGeom>
            <a:avLst/>
            <a:gdLst/>
            <a:ahLst/>
            <a:cxnLst/>
            <a:rect r="r" b="b" t="t" l="l"/>
            <a:pathLst>
              <a:path h="1139965" w="6756882">
                <a:moveTo>
                  <a:pt x="0" y="0"/>
                </a:moveTo>
                <a:lnTo>
                  <a:pt x="6756882" y="0"/>
                </a:lnTo>
                <a:lnTo>
                  <a:pt x="6756882" y="1139965"/>
                </a:lnTo>
                <a:lnTo>
                  <a:pt x="0" y="1139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907003" y="4679114"/>
            <a:ext cx="7579289" cy="5702935"/>
          </a:xfrm>
          <a:custGeom>
            <a:avLst/>
            <a:gdLst/>
            <a:ahLst/>
            <a:cxnLst/>
            <a:rect r="r" b="b" t="t" l="l"/>
            <a:pathLst>
              <a:path h="5702935" w="7579289">
                <a:moveTo>
                  <a:pt x="0" y="0"/>
                </a:moveTo>
                <a:lnTo>
                  <a:pt x="7579289" y="0"/>
                </a:lnTo>
                <a:lnTo>
                  <a:pt x="7579289" y="5702935"/>
                </a:lnTo>
                <a:lnTo>
                  <a:pt x="0" y="5702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លក្ខណៈលំនាំចេញ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ដែលប្រើសម្រាប់បំលែងសំណើមួយដែលមានឈ្នាប់និង នៅក្នុងលក្ខខណ្ខ ទៅជាលក្ខខណ្ឌបន្ទាប់ផ្សេងទៀតដោយមិនផ្លាស់ប្តូរតម្លៃភាពពិត។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3149" y="3604307"/>
            <a:ext cx="312681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លក្ខណៈលំនាំចេញ :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4,13. </a:t>
              </a: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លក្ខណៈស្រូបចូល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3039471"/>
            <a:chOff x="0" y="0"/>
            <a:chExt cx="4575312" cy="800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800428"/>
            </a:xfrm>
            <a:custGeom>
              <a:avLst/>
              <a:gdLst/>
              <a:ahLst/>
              <a:cxnLst/>
              <a:rect r="r" b="b" t="t" l="l"/>
              <a:pathLst>
                <a:path h="800428" w="4575312">
                  <a:moveTo>
                    <a:pt x="4575312" y="22283"/>
                  </a:moveTo>
                  <a:lnTo>
                    <a:pt x="4575312" y="778145"/>
                  </a:lnTo>
                  <a:cubicBezTo>
                    <a:pt x="4575312" y="784055"/>
                    <a:pt x="4572965" y="789723"/>
                    <a:pt x="4568786" y="793902"/>
                  </a:cubicBezTo>
                  <a:cubicBezTo>
                    <a:pt x="4564607" y="798081"/>
                    <a:pt x="4558939" y="800428"/>
                    <a:pt x="4553029" y="800428"/>
                  </a:cubicBezTo>
                  <a:lnTo>
                    <a:pt x="22283" y="800428"/>
                  </a:lnTo>
                  <a:cubicBezTo>
                    <a:pt x="9976" y="800428"/>
                    <a:pt x="0" y="790452"/>
                    <a:pt x="0" y="778145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84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219" y="4986871"/>
            <a:ext cx="17315677" cy="4450988"/>
            <a:chOff x="0" y="0"/>
            <a:chExt cx="4560486" cy="1172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60486" cy="1172144"/>
            </a:xfrm>
            <a:custGeom>
              <a:avLst/>
              <a:gdLst/>
              <a:ahLst/>
              <a:cxnLst/>
              <a:rect r="r" b="b" t="t" l="l"/>
              <a:pathLst>
                <a:path h="1172144" w="4560486">
                  <a:moveTo>
                    <a:pt x="4560486" y="22355"/>
                  </a:moveTo>
                  <a:lnTo>
                    <a:pt x="4560486" y="1149788"/>
                  </a:lnTo>
                  <a:cubicBezTo>
                    <a:pt x="4560486" y="1162135"/>
                    <a:pt x="4550478" y="1172144"/>
                    <a:pt x="4538131" y="1172144"/>
                  </a:cubicBezTo>
                  <a:lnTo>
                    <a:pt x="22355" y="1172144"/>
                  </a:lnTo>
                  <a:cubicBezTo>
                    <a:pt x="10009" y="1172144"/>
                    <a:pt x="0" y="1162135"/>
                    <a:pt x="0" y="1149788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lnTo>
                    <a:pt x="4538131" y="0"/>
                  </a:lnTo>
                  <a:cubicBezTo>
                    <a:pt x="4550478" y="0"/>
                    <a:pt x="4560486" y="10009"/>
                    <a:pt x="4560486" y="22355"/>
                  </a:cubicBezTo>
                  <a:close/>
                </a:path>
              </a:pathLst>
            </a:custGeom>
            <a:solidFill>
              <a:srgbClr val="E06666">
                <a:alpha val="9804"/>
              </a:srgbClr>
            </a:solidFill>
            <a:ln w="38100" cap="rnd">
              <a:solidFill>
                <a:srgbClr val="FF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60486" cy="121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793575" y="3333785"/>
            <a:ext cx="7114572" cy="1241469"/>
          </a:xfrm>
          <a:custGeom>
            <a:avLst/>
            <a:gdLst/>
            <a:ahLst/>
            <a:cxnLst/>
            <a:rect r="r" b="b" t="t" l="l"/>
            <a:pathLst>
              <a:path h="1241469" w="7114572">
                <a:moveTo>
                  <a:pt x="0" y="0"/>
                </a:moveTo>
                <a:lnTo>
                  <a:pt x="7114572" y="0"/>
                </a:lnTo>
                <a:lnTo>
                  <a:pt x="7114572" y="1241469"/>
                </a:lnTo>
                <a:lnTo>
                  <a:pt x="0" y="1241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420249" y="4851170"/>
            <a:ext cx="8531618" cy="4586689"/>
          </a:xfrm>
          <a:custGeom>
            <a:avLst/>
            <a:gdLst/>
            <a:ahLst/>
            <a:cxnLst/>
            <a:rect r="r" b="b" t="t" l="l"/>
            <a:pathLst>
              <a:path h="4586689" w="8531618">
                <a:moveTo>
                  <a:pt x="0" y="0"/>
                </a:moveTo>
                <a:lnTo>
                  <a:pt x="8531618" y="0"/>
                </a:lnTo>
                <a:lnTo>
                  <a:pt x="8531618" y="4586689"/>
                </a:lnTo>
                <a:lnTo>
                  <a:pt x="0" y="4586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2089832"/>
            <a:ext cx="168940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លក្ខណៈស្រូបចូល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ជាលក្ខណៈនៃច្បាប់តក្កវិទ្យា ដែលប្រើសម្រាប់បង្ហាញថានៅពេលសំណើមួយបានបញ្ចូលខ្លួនវាជាមួយសំណើដទៃផ្សេងទៀត ហើយតម្លៃរបស់វាមិនផ្លាស់ប្តូរទេ។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8216" y="3604307"/>
            <a:ext cx="29966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លក្ខណៈស្រូបចូល :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205946"/>
            <a:ext cx="19846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ឧទាហរណ៍: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4, បរិមាណករ (Quantifiers)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74252" y="1901940"/>
            <a:ext cx="2334698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បរិមាណករ</a:t>
            </a:r>
          </a:p>
        </p:txBody>
      </p:sp>
      <p:sp>
        <p:nvSpPr>
          <p:cNvPr name="Freeform 18" id="18"/>
          <p:cNvSpPr/>
          <p:nvPr/>
        </p:nvSpPr>
        <p:spPr>
          <a:xfrm>
            <a:off x="8741601" y="2559165"/>
            <a:ext cx="6171033" cy="3502050"/>
          </a:xfrm>
          <a:custGeom>
            <a:avLst/>
            <a:gdLst/>
            <a:ahLst/>
            <a:cxnLst/>
            <a:rect r="r" b="b" t="t" l="l"/>
            <a:pathLst>
              <a:path h="3502050" w="6171033">
                <a:moveTo>
                  <a:pt x="0" y="0"/>
                </a:moveTo>
                <a:lnTo>
                  <a:pt x="2856917" y="0"/>
                </a:lnTo>
                <a:cubicBezTo>
                  <a:pt x="2983169" y="0"/>
                  <a:pt x="3085517" y="102348"/>
                  <a:pt x="3085517" y="228600"/>
                </a:cubicBezTo>
                <a:lnTo>
                  <a:pt x="3085517" y="3273450"/>
                </a:lnTo>
                <a:cubicBezTo>
                  <a:pt x="3085517" y="3399702"/>
                  <a:pt x="3187865" y="3502050"/>
                  <a:pt x="3314117" y="3502050"/>
                </a:cubicBezTo>
                <a:lnTo>
                  <a:pt x="6171033" y="3502050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9" id="19"/>
          <p:cNvSpPr/>
          <p:nvPr/>
        </p:nvSpPr>
        <p:spPr>
          <a:xfrm>
            <a:off x="8741601" y="4170882"/>
            <a:ext cx="0" cy="1611717"/>
          </a:xfrm>
          <a:custGeom>
            <a:avLst/>
            <a:gdLst/>
            <a:ahLst/>
            <a:cxnLst/>
            <a:rect r="r" b="b" t="t" l="l"/>
            <a:pathLst>
              <a:path h="1611717" w="0">
                <a:moveTo>
                  <a:pt x="0" y="0"/>
                </a:moveTo>
                <a:lnTo>
                  <a:pt x="0" y="1611717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0" id="20"/>
          <p:cNvSpPr/>
          <p:nvPr/>
        </p:nvSpPr>
        <p:spPr>
          <a:xfrm>
            <a:off x="3245330" y="2559165"/>
            <a:ext cx="5496271" cy="3223434"/>
          </a:xfrm>
          <a:custGeom>
            <a:avLst/>
            <a:gdLst/>
            <a:ahLst/>
            <a:cxnLst/>
            <a:rect r="r" b="b" t="t" l="l"/>
            <a:pathLst>
              <a:path h="3223434" w="5496271">
                <a:moveTo>
                  <a:pt x="5496271" y="0"/>
                </a:moveTo>
                <a:lnTo>
                  <a:pt x="5496271" y="1528157"/>
                </a:lnTo>
                <a:cubicBezTo>
                  <a:pt x="5496271" y="1654410"/>
                  <a:pt x="5393923" y="1756757"/>
                  <a:pt x="5267671" y="1756757"/>
                </a:cubicBezTo>
                <a:lnTo>
                  <a:pt x="228600" y="1756757"/>
                </a:lnTo>
                <a:cubicBezTo>
                  <a:pt x="102348" y="1756757"/>
                  <a:pt x="0" y="1859105"/>
                  <a:pt x="0" y="1985357"/>
                </a:cubicBezTo>
                <a:lnTo>
                  <a:pt x="0" y="3223434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779325" y="6086410"/>
            <a:ext cx="357356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បរិមាណករគ្រប់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7145" y="6042165"/>
            <a:ext cx="571097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បរិមាណករមានតែមួយគត់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89067" y="6086410"/>
            <a:ext cx="37505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បរិមាណករមាន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5,1. បរិមាណករមាន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2802845"/>
            <a:chOff x="0" y="0"/>
            <a:chExt cx="4575312" cy="738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738114"/>
            </a:xfrm>
            <a:custGeom>
              <a:avLst/>
              <a:gdLst/>
              <a:ahLst/>
              <a:cxnLst/>
              <a:rect r="r" b="b" t="t" l="l"/>
              <a:pathLst>
                <a:path h="738114" w="4575312">
                  <a:moveTo>
                    <a:pt x="4575312" y="22283"/>
                  </a:moveTo>
                  <a:lnTo>
                    <a:pt x="4575312" y="715831"/>
                  </a:lnTo>
                  <a:cubicBezTo>
                    <a:pt x="4575312" y="721741"/>
                    <a:pt x="4572965" y="727409"/>
                    <a:pt x="4568786" y="731587"/>
                  </a:cubicBezTo>
                  <a:cubicBezTo>
                    <a:pt x="4564607" y="735766"/>
                    <a:pt x="4558939" y="738114"/>
                    <a:pt x="4553029" y="738114"/>
                  </a:cubicBezTo>
                  <a:lnTo>
                    <a:pt x="22283" y="738114"/>
                  </a:lnTo>
                  <a:cubicBezTo>
                    <a:pt x="9976" y="738114"/>
                    <a:pt x="0" y="728138"/>
                    <a:pt x="0" y="715831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78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754646" y="4835970"/>
            <a:ext cx="10053261" cy="5113296"/>
          </a:xfrm>
          <a:custGeom>
            <a:avLst/>
            <a:gdLst/>
            <a:ahLst/>
            <a:cxnLst/>
            <a:rect r="r" b="b" t="t" l="l"/>
            <a:pathLst>
              <a:path h="5113296" w="10053261">
                <a:moveTo>
                  <a:pt x="0" y="0"/>
                </a:moveTo>
                <a:lnTo>
                  <a:pt x="10053261" y="0"/>
                </a:lnTo>
                <a:lnTo>
                  <a:pt x="10053261" y="5113296"/>
                </a:lnTo>
                <a:lnTo>
                  <a:pt x="0" y="5113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2089832"/>
            <a:ext cx="168940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បរិមាណករមាន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តាងដោយនិមិត្តសញ្ញា​ 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E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មានន័យថា មានយ៉ាងតិចមួយ ឫ មានយ៉ាងតិច…មួយដែល។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2200" y="2769045"/>
            <a:ext cx="1689400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 គេប្រើបរិមាណករ​ E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ដើម្បីភ្ជាប់អថេរនៃអនុគមន៍បកាសន៍មួយទៅ និងសំណុំសកលមួយ ដែលត្រូវបានកំណត់ក្នុងគោលគំនិត​ បម្លែងពីអនុគមន៍បកាសន៍ ពីអនុគមន៍បកាសន៍ទៅជាអនុគមន៍បកាសន៍មួយអថេរ រួចទៅជាបកាសន៍ និងបន្តបន្ទាប់…។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5,2. បរិមាណករមានតែមួួយគត់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2802845"/>
            <a:chOff x="0" y="0"/>
            <a:chExt cx="4575312" cy="738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738114"/>
            </a:xfrm>
            <a:custGeom>
              <a:avLst/>
              <a:gdLst/>
              <a:ahLst/>
              <a:cxnLst/>
              <a:rect r="r" b="b" t="t" l="l"/>
              <a:pathLst>
                <a:path h="738114" w="4575312">
                  <a:moveTo>
                    <a:pt x="4575312" y="22283"/>
                  </a:moveTo>
                  <a:lnTo>
                    <a:pt x="4575312" y="715831"/>
                  </a:lnTo>
                  <a:cubicBezTo>
                    <a:pt x="4575312" y="721741"/>
                    <a:pt x="4572965" y="727409"/>
                    <a:pt x="4568786" y="731587"/>
                  </a:cubicBezTo>
                  <a:cubicBezTo>
                    <a:pt x="4564607" y="735766"/>
                    <a:pt x="4558939" y="738114"/>
                    <a:pt x="4553029" y="738114"/>
                  </a:cubicBezTo>
                  <a:lnTo>
                    <a:pt x="22283" y="738114"/>
                  </a:lnTo>
                  <a:cubicBezTo>
                    <a:pt x="9976" y="738114"/>
                    <a:pt x="0" y="728138"/>
                    <a:pt x="0" y="715831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78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387497" y="5216970"/>
            <a:ext cx="12983102" cy="2803348"/>
          </a:xfrm>
          <a:custGeom>
            <a:avLst/>
            <a:gdLst/>
            <a:ahLst/>
            <a:cxnLst/>
            <a:rect r="r" b="b" t="t" l="l"/>
            <a:pathLst>
              <a:path h="2803348" w="12983102">
                <a:moveTo>
                  <a:pt x="0" y="0"/>
                </a:moveTo>
                <a:lnTo>
                  <a:pt x="12983102" y="0"/>
                </a:lnTo>
                <a:lnTo>
                  <a:pt x="12983102" y="2803348"/>
                </a:lnTo>
                <a:lnTo>
                  <a:pt x="0" y="2803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2089832"/>
            <a:ext cx="168940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បរិមាណករមានតែមួយគត់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តាងដោយនិមិត្តសញ្ញា 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E!​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មានន័យថា (មាន…តែមួយគត់ដែល)។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2200" y="2769045"/>
            <a:ext cx="1689400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គេប្រើបរិមាណករE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ដើម្បីភ្ជាប់អថេរនៃអនុគមន៍បកាសន៍មួយទៅនិងសំណុំសកលមួយ ដែលត្រូវបានកំណត់ក្នុងគោលគំនិតបម្លែងពីអនុគមន៍បកាសន៍ ពីអនុគមន៍បកាសន៍ពីរអថេរទៅជាអនុគមន៍បកាសន៍មួយអថេរ រួចទៅជាបកាសន៍ និងបន្តបន្ទាប់…។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2456" y="9238755"/>
            <a:ext cx="1677200" cy="728062"/>
            <a:chOff x="0" y="0"/>
            <a:chExt cx="2236267" cy="97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6216" cy="970788"/>
            </a:xfrm>
            <a:custGeom>
              <a:avLst/>
              <a:gdLst/>
              <a:ahLst/>
              <a:cxnLst/>
              <a:rect r="r" b="b" t="t" l="l"/>
              <a:pathLst>
                <a:path h="970788" w="2236216">
                  <a:moveTo>
                    <a:pt x="0" y="0"/>
                  </a:moveTo>
                  <a:lnTo>
                    <a:pt x="2236216" y="0"/>
                  </a:lnTo>
                  <a:lnTo>
                    <a:pt x="2236216" y="970788"/>
                  </a:lnTo>
                  <a:lnTo>
                    <a:pt x="0" y="970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50" y="0"/>
            <a:ext cx="157048" cy="10287000"/>
            <a:chOff x="0" y="0"/>
            <a:chExt cx="20939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2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9423">
                  <a:moveTo>
                    <a:pt x="0" y="0"/>
                  </a:moveTo>
                  <a:lnTo>
                    <a:pt x="209423" y="0"/>
                  </a:lnTo>
                  <a:lnTo>
                    <a:pt x="20942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46300"/>
            <a:ext cx="17517151" cy="964800"/>
            <a:chOff x="0" y="0"/>
            <a:chExt cx="23356202" cy="12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033B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5,3. បរិមាណករគ្រប់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7907" y="9291857"/>
            <a:ext cx="4114800" cy="877732"/>
            <a:chOff x="0" y="0"/>
            <a:chExt cx="5486400" cy="1170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170311"/>
            </a:xfrm>
            <a:custGeom>
              <a:avLst/>
              <a:gdLst/>
              <a:ahLst/>
              <a:cxnLst/>
              <a:rect r="r" b="b" t="t" l="l"/>
              <a:pathLst>
                <a:path h="117031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70311"/>
                  </a:lnTo>
                  <a:lnTo>
                    <a:pt x="0" y="11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148" r="0" b="-225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1179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Siemreap"/>
                  <a:ea typeface="Siemreap"/>
                  <a:cs typeface="Siemreap"/>
                  <a:sym typeface="Siemreap"/>
                </a:rPr>
                <a:t>‹#›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5555" y="1275277"/>
            <a:ext cx="17517151" cy="964800"/>
            <a:chOff x="0" y="0"/>
            <a:chExt cx="23356202" cy="12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6201" cy="1286404"/>
            </a:xfrm>
            <a:custGeom>
              <a:avLst/>
              <a:gdLst/>
              <a:ahLst/>
              <a:cxnLst/>
              <a:rect r="r" b="b" t="t" l="l"/>
              <a:pathLst>
                <a:path h="1286404" w="23356201">
                  <a:moveTo>
                    <a:pt x="0" y="0"/>
                  </a:moveTo>
                  <a:lnTo>
                    <a:pt x="23356201" y="0"/>
                  </a:lnTo>
                  <a:lnTo>
                    <a:pt x="23356201" y="1286404"/>
                  </a:lnTo>
                  <a:lnTo>
                    <a:pt x="0" y="1286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74" r="0" b="-3037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6202" cy="131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71550" indent="-485775" lvl="1">
                <a:lnSpc>
                  <a:spcPts val="5400"/>
                </a:lnSpc>
                <a:buAutoNum type="arabicPeriod" startAt="1"/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219" y="1814050"/>
            <a:ext cx="17371970" cy="2802845"/>
            <a:chOff x="0" y="0"/>
            <a:chExt cx="4575312" cy="738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5312" cy="738114"/>
            </a:xfrm>
            <a:custGeom>
              <a:avLst/>
              <a:gdLst/>
              <a:ahLst/>
              <a:cxnLst/>
              <a:rect r="r" b="b" t="t" l="l"/>
              <a:pathLst>
                <a:path h="738114" w="4575312">
                  <a:moveTo>
                    <a:pt x="4575312" y="22283"/>
                  </a:moveTo>
                  <a:lnTo>
                    <a:pt x="4575312" y="715831"/>
                  </a:lnTo>
                  <a:cubicBezTo>
                    <a:pt x="4575312" y="721741"/>
                    <a:pt x="4572965" y="727409"/>
                    <a:pt x="4568786" y="731587"/>
                  </a:cubicBezTo>
                  <a:cubicBezTo>
                    <a:pt x="4564607" y="735766"/>
                    <a:pt x="4558939" y="738114"/>
                    <a:pt x="4553029" y="738114"/>
                  </a:cubicBezTo>
                  <a:lnTo>
                    <a:pt x="22283" y="738114"/>
                  </a:lnTo>
                  <a:cubicBezTo>
                    <a:pt x="9976" y="738114"/>
                    <a:pt x="0" y="728138"/>
                    <a:pt x="0" y="715831"/>
                  </a:cubicBezTo>
                  <a:lnTo>
                    <a:pt x="0" y="22283"/>
                  </a:lnTo>
                  <a:cubicBezTo>
                    <a:pt x="0" y="9976"/>
                    <a:pt x="9976" y="0"/>
                    <a:pt x="22283" y="0"/>
                  </a:cubicBezTo>
                  <a:lnTo>
                    <a:pt x="4553029" y="0"/>
                  </a:lnTo>
                  <a:cubicBezTo>
                    <a:pt x="4565336" y="0"/>
                    <a:pt x="4575312" y="9976"/>
                    <a:pt x="4575312" y="22283"/>
                  </a:cubicBezTo>
                  <a:close/>
                </a:path>
              </a:pathLst>
            </a:custGeom>
            <a:solidFill>
              <a:srgbClr val="B3C6E7">
                <a:alpha val="14902"/>
              </a:srgbClr>
            </a:solidFill>
            <a:ln w="38100" cap="rnd">
              <a:solidFill>
                <a:srgbClr val="0033B3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575312" cy="785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2089832"/>
            <a:ext cx="168940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បរិមាណករគ្រប់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តាងដោយនិមិត្តសញ្ញា 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A 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មានន័យថា ចំពោះគ្រប់…។</a:t>
            </a:r>
            <a:r>
              <a:rPr lang="en-US" sz="3000">
                <a:solidFill>
                  <a:srgbClr val="FF0000"/>
                </a:solidFill>
                <a:latin typeface="Siemreap"/>
                <a:ea typeface="Siemreap"/>
                <a:cs typeface="Siemreap"/>
                <a:sym typeface="Siemreap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2200" y="2769045"/>
            <a:ext cx="1689400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គេប្រើបរិមាណករA</a:t>
            </a:r>
            <a:r>
              <a:rPr lang="en-US" sz="3000">
                <a:solidFill>
                  <a:srgbClr val="000000"/>
                </a:solidFill>
                <a:latin typeface="Siemreap"/>
                <a:ea typeface="Siemreap"/>
                <a:cs typeface="Siemreap"/>
                <a:sym typeface="Siemreap"/>
              </a:rPr>
              <a:t>ដើម្បីភ្ជាប់អថេរនៃអនុគមន៍បកាសន៍មួយទៅនិងសំណុំសកលមួយ ដែលត្រូវបានកំណត់ក្នុងគោលគំនិតបម្លែងពីអនុគមន៍បកាសន៍មួយអថេរទៅជាបកាសន៍ ពីអនុគមន៍បកាសន៍ពីរអថេរទៅជាអនុគមន៍បកាសន៍មួយអថេរ រួចទៅជាបកាសន៍ និង បន្តបន្ទាប់…។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837780" y="5143500"/>
            <a:ext cx="12652703" cy="3299129"/>
          </a:xfrm>
          <a:custGeom>
            <a:avLst/>
            <a:gdLst/>
            <a:ahLst/>
            <a:cxnLst/>
            <a:rect r="r" b="b" t="t" l="l"/>
            <a:pathLst>
              <a:path h="3299129" w="12652703">
                <a:moveTo>
                  <a:pt x="0" y="0"/>
                </a:moveTo>
                <a:lnTo>
                  <a:pt x="12652702" y="0"/>
                </a:lnTo>
                <a:lnTo>
                  <a:pt x="12652702" y="3299129"/>
                </a:lnTo>
                <a:lnTo>
                  <a:pt x="0" y="3299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53851" y="1086612"/>
            <a:ext cx="8180289" cy="8113786"/>
            <a:chOff x="0" y="0"/>
            <a:chExt cx="10907052" cy="10818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07014" cy="10818368"/>
            </a:xfrm>
            <a:custGeom>
              <a:avLst/>
              <a:gdLst/>
              <a:ahLst/>
              <a:cxnLst/>
              <a:rect r="r" b="b" t="t" l="l"/>
              <a:pathLst>
                <a:path h="10818368" w="10907014">
                  <a:moveTo>
                    <a:pt x="0" y="0"/>
                  </a:moveTo>
                  <a:lnTo>
                    <a:pt x="10907014" y="0"/>
                  </a:lnTo>
                  <a:lnTo>
                    <a:pt x="10907014" y="10818368"/>
                  </a:lnTo>
                  <a:lnTo>
                    <a:pt x="0" y="1081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1530" t="0" r="-15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43925" y="5046154"/>
            <a:ext cx="1192949" cy="440550"/>
            <a:chOff x="0" y="0"/>
            <a:chExt cx="1590599" cy="58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0675" cy="587502"/>
            </a:xfrm>
            <a:custGeom>
              <a:avLst/>
              <a:gdLst/>
              <a:ahLst/>
              <a:cxnLst/>
              <a:rect r="r" b="b" t="t" l="l"/>
              <a:pathLst>
                <a:path h="587502" w="1590675">
                  <a:moveTo>
                    <a:pt x="0" y="293751"/>
                  </a:moveTo>
                  <a:cubicBezTo>
                    <a:pt x="0" y="131445"/>
                    <a:pt x="131445" y="0"/>
                    <a:pt x="293751" y="0"/>
                  </a:cubicBezTo>
                  <a:lnTo>
                    <a:pt x="1296924" y="0"/>
                  </a:lnTo>
                  <a:cubicBezTo>
                    <a:pt x="1459103" y="0"/>
                    <a:pt x="1590675" y="131445"/>
                    <a:pt x="1590675" y="293751"/>
                  </a:cubicBezTo>
                  <a:cubicBezTo>
                    <a:pt x="1590675" y="456057"/>
                    <a:pt x="1459230" y="587502"/>
                    <a:pt x="1296924" y="587502"/>
                  </a:cubicBezTo>
                  <a:lnTo>
                    <a:pt x="293751" y="587502"/>
                  </a:lnTo>
                  <a:cubicBezTo>
                    <a:pt x="131445" y="587375"/>
                    <a:pt x="0" y="455930"/>
                    <a:pt x="0" y="293751"/>
                  </a:cubicBezTo>
                  <a:close/>
                </a:path>
              </a:pathLst>
            </a:custGeom>
            <a:solidFill>
              <a:srgbClr val="B3C6E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73944" y="5181971"/>
            <a:ext cx="740254" cy="168754"/>
          </a:xfrm>
          <a:custGeom>
            <a:avLst/>
            <a:gdLst/>
            <a:ahLst/>
            <a:cxnLst/>
            <a:rect r="r" b="b" t="t" l="l"/>
            <a:pathLst>
              <a:path h="168754" w="740254">
                <a:moveTo>
                  <a:pt x="0" y="0"/>
                </a:moveTo>
                <a:lnTo>
                  <a:pt x="740255" y="0"/>
                </a:lnTo>
                <a:lnTo>
                  <a:pt x="740255" y="168755"/>
                </a:lnTo>
                <a:lnTo>
                  <a:pt x="0" y="168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27500">
            <a:off x="-236191" y="-464620"/>
            <a:ext cx="4990538" cy="1837515"/>
            <a:chOff x="0" y="0"/>
            <a:chExt cx="6654051" cy="2450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10072500">
            <a:off x="13533653" y="8918334"/>
            <a:ext cx="4990538" cy="1837515"/>
            <a:chOff x="0" y="0"/>
            <a:chExt cx="6654051" cy="24500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4038" cy="2450178"/>
            </a:xfrm>
            <a:custGeom>
              <a:avLst/>
              <a:gdLst/>
              <a:ahLst/>
              <a:cxnLst/>
              <a:rect r="r" b="b" t="t" l="l"/>
              <a:pathLst>
                <a:path h="2450178" w="6654038">
                  <a:moveTo>
                    <a:pt x="509143" y="0"/>
                  </a:moveTo>
                  <a:lnTo>
                    <a:pt x="6654038" y="1315974"/>
                  </a:lnTo>
                  <a:lnTo>
                    <a:pt x="6252337" y="1343279"/>
                  </a:lnTo>
                  <a:cubicBezTo>
                    <a:pt x="3776853" y="1571371"/>
                    <a:pt x="3016758" y="2481961"/>
                    <a:pt x="911098" y="2449322"/>
                  </a:cubicBezTo>
                  <a:cubicBezTo>
                    <a:pt x="725932" y="2446401"/>
                    <a:pt x="530479" y="2436241"/>
                    <a:pt x="322453" y="2417699"/>
                  </a:cubicBezTo>
                  <a:lnTo>
                    <a:pt x="0" y="23776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1393488"/>
            <a:ext cx="13716000" cy="3581552"/>
            <a:chOff x="0" y="0"/>
            <a:chExt cx="18288000" cy="4775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775400"/>
            </a:xfrm>
            <a:custGeom>
              <a:avLst/>
              <a:gdLst/>
              <a:ahLst/>
              <a:cxnLst/>
              <a:rect r="r" b="b" t="t" l="l"/>
              <a:pathLst>
                <a:path h="4775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400"/>
                  </a:lnTo>
                  <a:lnTo>
                    <a:pt x="0" y="4775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620" r="0" b="-246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8288000" cy="47087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9000" i="true">
                  <a:solidFill>
                    <a:srgbClr val="233D97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សូមអរគុណ!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77421" y="5910196"/>
            <a:ext cx="13533149" cy="241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600" i="true">
                <a:solidFill>
                  <a:srgbClr val="E11E28"/>
                </a:solidFill>
                <a:latin typeface="Consolas Bold Italics"/>
                <a:ea typeface="Consolas Bold Italics"/>
                <a:cs typeface="Consolas Bold Italics"/>
                <a:sym typeface="Consolas Bold Italics"/>
              </a:rPr>
              <a:t>Grow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DAHRTiBnZgs</dc:identifier>
  <dcterms:modified xsi:type="dcterms:W3CDTF">2011-08-01T06:04:30Z</dcterms:modified>
  <cp:revision>1</cp:revision>
  <dc:title>Copy of Math.pptx</dc:title>
</cp:coreProperties>
</file>