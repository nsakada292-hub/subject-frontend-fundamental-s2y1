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embeddedFontLst>
    <p:embeddedFont>
      <p:font typeface="Nunito"/>
      <p:regular r:id="rId40"/>
      <p:bold r:id="rId41"/>
      <p:italic r:id="rId42"/>
      <p:boldItalic r:id="rId43"/>
    </p:embeddedFont>
    <p:embeddedFont>
      <p:font typeface="Kantumruy Pro"/>
      <p:regular r:id="rId44"/>
      <p:bold r:id="rId45"/>
      <p:italic r:id="rId46"/>
      <p:boldItalic r:id="rId47"/>
    </p:embeddedFont>
    <p:embeddedFont>
      <p:font typeface="Google Sans"/>
      <p:regular r:id="rId48"/>
      <p:bold r:id="rId49"/>
      <p:italic r:id="rId50"/>
      <p:boldItalic r:id="rId51"/>
    </p:embeddedFont>
    <p:embeddedFont>
      <p:font typeface="Google Sans Medium"/>
      <p:regular r:id="rId52"/>
      <p:bold r:id="rId53"/>
      <p:italic r:id="rId54"/>
      <p:boldItalic r:id="rId55"/>
    </p:embeddedFont>
    <p:embeddedFont>
      <p:font typeface="Kantumruy Pro SemiBold"/>
      <p:regular r:id="rId56"/>
      <p:bold r:id="rId57"/>
      <p:italic r:id="rId58"/>
      <p:boldItalic r:id="rId59"/>
    </p:embeddedFont>
    <p:embeddedFont>
      <p:font typeface="Nokora"/>
      <p:regular r:id="rId60"/>
      <p:bold r:id="rId61"/>
    </p:embeddedFont>
    <p:embeddedFont>
      <p:font typeface="Battambang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4" roundtripDataSignature="AMtx7miE3t/e1akW64FgeDMYzZXklpyF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D65378-F35B-41B6-BB16-45709E4C7832}">
  <a:tblStyle styleId="{25D65378-F35B-41B6-BB16-45709E4C78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regular.fntdata"/><Relationship Id="rId42" Type="http://schemas.openxmlformats.org/officeDocument/2006/relationships/font" Target="fonts/Nunito-italic.fntdata"/><Relationship Id="rId41" Type="http://schemas.openxmlformats.org/officeDocument/2006/relationships/font" Target="fonts/Nunito-bold.fntdata"/><Relationship Id="rId44" Type="http://schemas.openxmlformats.org/officeDocument/2006/relationships/font" Target="fonts/KantumruyPro-regular.fntdata"/><Relationship Id="rId43" Type="http://schemas.openxmlformats.org/officeDocument/2006/relationships/font" Target="fonts/Nunito-boldItalic.fntdata"/><Relationship Id="rId46" Type="http://schemas.openxmlformats.org/officeDocument/2006/relationships/font" Target="fonts/KantumruyPro-italic.fntdata"/><Relationship Id="rId45" Type="http://schemas.openxmlformats.org/officeDocument/2006/relationships/font" Target="fonts/KantumruyPr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GoogleSans-regular.fntdata"/><Relationship Id="rId47" Type="http://schemas.openxmlformats.org/officeDocument/2006/relationships/font" Target="fonts/KantumruyPro-boldItalic.fntdata"/><Relationship Id="rId49" Type="http://schemas.openxmlformats.org/officeDocument/2006/relationships/font" Target="fonts/Google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Battambang-regular.fntdata"/><Relationship Id="rId61" Type="http://schemas.openxmlformats.org/officeDocument/2006/relationships/font" Target="fonts/Nokora-bold.fntdata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font" Target="fonts/Battambang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Nokora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GoogleSans-boldItalic.fntdata"/><Relationship Id="rId50" Type="http://schemas.openxmlformats.org/officeDocument/2006/relationships/font" Target="fonts/GoogleSans-italic.fntdata"/><Relationship Id="rId53" Type="http://schemas.openxmlformats.org/officeDocument/2006/relationships/font" Target="fonts/GoogleSansMedium-bold.fntdata"/><Relationship Id="rId52" Type="http://schemas.openxmlformats.org/officeDocument/2006/relationships/font" Target="fonts/GoogleSansMedium-regular.fntdata"/><Relationship Id="rId11" Type="http://schemas.openxmlformats.org/officeDocument/2006/relationships/slide" Target="slides/slide6.xml"/><Relationship Id="rId55" Type="http://schemas.openxmlformats.org/officeDocument/2006/relationships/font" Target="fonts/GoogleSansMedium-boldItalic.fntdata"/><Relationship Id="rId10" Type="http://schemas.openxmlformats.org/officeDocument/2006/relationships/slide" Target="slides/slide5.xml"/><Relationship Id="rId54" Type="http://schemas.openxmlformats.org/officeDocument/2006/relationships/font" Target="fonts/GoogleSansMedium-italic.fntdata"/><Relationship Id="rId13" Type="http://schemas.openxmlformats.org/officeDocument/2006/relationships/slide" Target="slides/slide8.xml"/><Relationship Id="rId57" Type="http://schemas.openxmlformats.org/officeDocument/2006/relationships/font" Target="fonts/KantumruyProSemiBold-bold.fntdata"/><Relationship Id="rId12" Type="http://schemas.openxmlformats.org/officeDocument/2006/relationships/slide" Target="slides/slide7.xml"/><Relationship Id="rId56" Type="http://schemas.openxmlformats.org/officeDocument/2006/relationships/font" Target="fonts/KantumruyProSemiBold-regular.fntdata"/><Relationship Id="rId15" Type="http://schemas.openxmlformats.org/officeDocument/2006/relationships/slide" Target="slides/slide10.xml"/><Relationship Id="rId59" Type="http://schemas.openxmlformats.org/officeDocument/2006/relationships/font" Target="fonts/KantumruyProSemiBold-boldItalic.fntdata"/><Relationship Id="rId14" Type="http://schemas.openxmlformats.org/officeDocument/2006/relationships/slide" Target="slides/slide9.xml"/><Relationship Id="rId58" Type="http://schemas.openxmlformats.org/officeDocument/2006/relationships/font" Target="fonts/KantumruyProSemiBold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07e96129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407e9612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444e75c4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60444e75c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67eff667b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67eff667b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67eff667b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7eff667b_3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67eff667b_3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67eff667b_3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7eff667b_3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67eff667b_3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67eff667b_3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7eff667b_3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67eff667b_3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67eff667b_3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7eff667b_3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67eff667b_3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67eff667b_3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7eff667b_3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67eff667b_3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67eff667b_3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7eff667b_3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67eff667b_3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67eff667b_3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67eff667b_3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67eff667b_3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67eff667b_3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7eff667b_3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67eff667b_3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67eff667b_3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67eff667b_3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67eff667b_3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67eff667b_3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681f09c0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681f09c0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681f09c0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81f09c06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681f09c06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681f09c06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68bab5a5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68bab5a5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68bab5a5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68bab5a54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68bab5a54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68bab5a54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8bab5a54_1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68bab5a54_1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68bab5a54_1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8bab5a54_1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68bab5a54_1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68bab5a54_1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68bab5a54_1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68bab5a54_1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68bab5a54_1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68bab5a54_1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68bab5a54_1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68bab5a54_1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98c6d43e9_2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98c6d43e9_2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98c6d43e9_2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8c6d43e9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98c6d43e9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98c6d43e9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98c6d43e9_2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98c6d43e9_2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98c6d43e9_2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98c6d43e9_2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98c6d43e9_2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98c6d43e9_2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98c6d43e9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98c6d43e9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98c6d43e9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98c6d43e9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98c6d43e9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98c6d43e9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98c6d43e9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98c6d43e9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98c6d43e9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98c6d43e9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98c6d43e9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f98c6d43e9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98c6d43e9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98c6d43e9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f98c6d43e9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98c6d43e9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98c6d43e9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98c6d43e9_1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98c6d43e9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98c6d43e9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f98c6d43e9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98c6d43e9_1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98c6d43e9_1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98c6d43e9_1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b64993a3c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1b64993a3c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1b64993a3c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b64993a3c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g1b64993a3c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g3f635395298_0_94" title="Logo Style 4.png"/>
          <p:cNvPicPr preferRelativeResize="0"/>
          <p:nvPr/>
        </p:nvPicPr>
        <p:blipFill rotWithShape="1">
          <a:blip r:embed="rId2">
            <a:alphaModFix amt="9000"/>
          </a:blip>
          <a:srcRect b="0" l="0" r="51136" t="0"/>
          <a:stretch/>
        </p:blipFill>
        <p:spPr>
          <a:xfrm>
            <a:off x="3541933" y="630672"/>
            <a:ext cx="5108135" cy="57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g3f635395298_0_94"/>
          <p:cNvSpPr/>
          <p:nvPr/>
        </p:nvSpPr>
        <p:spPr>
          <a:xfrm>
            <a:off x="5695951" y="3364100"/>
            <a:ext cx="795300" cy="2934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17" name="Google Shape;17;g3f635395298_0_94"/>
          <p:cNvSpPr txBox="1"/>
          <p:nvPr>
            <p:ph type="ctrTitle"/>
          </p:nvPr>
        </p:nvSpPr>
        <p:spPr>
          <a:xfrm>
            <a:off x="1524000" y="92899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6000"/>
              <a:buFont typeface="Kantumruy Pro SemiBold"/>
              <a:buNone/>
              <a:defRPr sz="6000">
                <a:solidFill>
                  <a:srgbClr val="233D9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635395298_0_94"/>
          <p:cNvSpPr txBox="1"/>
          <p:nvPr>
            <p:ph idx="1" type="subTitle"/>
          </p:nvPr>
        </p:nvSpPr>
        <p:spPr>
          <a:xfrm>
            <a:off x="1524000" y="3922364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1E28"/>
              </a:buClr>
              <a:buSzPts val="3400"/>
              <a:buNone/>
              <a:defRPr sz="3400">
                <a:solidFill>
                  <a:srgbClr val="E11E28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19" name="Google Shape;19;g3f635395298_0_94"/>
          <p:cNvGrpSpPr/>
          <p:nvPr/>
        </p:nvGrpSpPr>
        <p:grpSpPr>
          <a:xfrm>
            <a:off x="5849297" y="3454647"/>
            <a:ext cx="493500" cy="112500"/>
            <a:chOff x="5271247" y="3429000"/>
            <a:chExt cx="493500" cy="112500"/>
          </a:xfrm>
        </p:grpSpPr>
        <p:sp>
          <p:nvSpPr>
            <p:cNvPr id="20" name="Google Shape;20;g3f635395298_0_94"/>
            <p:cNvSpPr/>
            <p:nvPr/>
          </p:nvSpPr>
          <p:spPr>
            <a:xfrm>
              <a:off x="5271247" y="3429000"/>
              <a:ext cx="112500" cy="1125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ntumruy Pro"/>
                <a:ea typeface="Kantumruy Pro"/>
                <a:cs typeface="Kantumruy Pro"/>
                <a:sym typeface="Kantumruy Pro"/>
              </a:endParaRPr>
            </a:p>
          </p:txBody>
        </p:sp>
        <p:sp>
          <p:nvSpPr>
            <p:cNvPr id="21" name="Google Shape;21;g3f635395298_0_94"/>
            <p:cNvSpPr/>
            <p:nvPr/>
          </p:nvSpPr>
          <p:spPr>
            <a:xfrm>
              <a:off x="5461747" y="3429000"/>
              <a:ext cx="112500" cy="1125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ntumruy Pro"/>
                <a:ea typeface="Kantumruy Pro"/>
                <a:cs typeface="Kantumruy Pro"/>
                <a:sym typeface="Kantumruy Pro"/>
              </a:endParaRPr>
            </a:p>
          </p:txBody>
        </p:sp>
        <p:sp>
          <p:nvSpPr>
            <p:cNvPr id="22" name="Google Shape;22;g3f635395298_0_94"/>
            <p:cNvSpPr/>
            <p:nvPr/>
          </p:nvSpPr>
          <p:spPr>
            <a:xfrm>
              <a:off x="5652247" y="3429000"/>
              <a:ext cx="112500" cy="1125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ntumruy Pro"/>
                <a:ea typeface="Kantumruy Pro"/>
                <a:cs typeface="Kantumruy Pro"/>
                <a:sym typeface="Kantumruy Pro"/>
              </a:endParaRPr>
            </a:p>
          </p:txBody>
        </p:sp>
      </p:grpSp>
      <p:sp>
        <p:nvSpPr>
          <p:cNvPr id="23" name="Google Shape;23;g3f635395298_0_94"/>
          <p:cNvSpPr/>
          <p:nvPr/>
        </p:nvSpPr>
        <p:spPr>
          <a:xfrm rot="10072513">
            <a:off x="9022434" y="5945558"/>
            <a:ext cx="3327026" cy="1225009"/>
          </a:xfrm>
          <a:custGeom>
            <a:rect b="b" l="l" r="r" t="t"/>
            <a:pathLst>
              <a:path extrusionOk="0" h="1225250" w="3327681">
                <a:moveTo>
                  <a:pt x="254648" y="0"/>
                </a:moveTo>
                <a:lnTo>
                  <a:pt x="3327681" y="658092"/>
                </a:lnTo>
                <a:lnTo>
                  <a:pt x="3126801" y="671722"/>
                </a:lnTo>
                <a:cubicBezTo>
                  <a:pt x="1888786" y="785813"/>
                  <a:pt x="1508699" y="1241156"/>
                  <a:pt x="455624" y="1224822"/>
                </a:cubicBezTo>
                <a:lnTo>
                  <a:pt x="455624" y="1224822"/>
                </a:lnTo>
                <a:cubicBezTo>
                  <a:pt x="363046" y="1223385"/>
                  <a:pt x="265267" y="1218304"/>
                  <a:pt x="161246" y="1209025"/>
                </a:cubicBezTo>
                <a:lnTo>
                  <a:pt x="0" y="11891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pic>
        <p:nvPicPr>
          <p:cNvPr id="24" name="Google Shape;24;g3f635395298_0_94" title="New Logo iSTAD Full-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9950" y="190859"/>
            <a:ext cx="1773123" cy="6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3f635395298_0_94"/>
          <p:cNvPicPr preferRelativeResize="0"/>
          <p:nvPr/>
        </p:nvPicPr>
        <p:blipFill rotWithShape="1">
          <a:blip r:embed="rId4">
            <a:alphaModFix/>
          </a:blip>
          <a:srcRect b="58410" l="12304" r="0" t="6937"/>
          <a:stretch/>
        </p:blipFill>
        <p:spPr>
          <a:xfrm rot="5400000">
            <a:off x="-2884201" y="2876451"/>
            <a:ext cx="7513252" cy="174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g3f635395298_0_94" title="creative-common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39575" y="6411525"/>
            <a:ext cx="1252425" cy="44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3f635395298_0_94"/>
          <p:cNvSpPr txBox="1"/>
          <p:nvPr/>
        </p:nvSpPr>
        <p:spPr>
          <a:xfrm>
            <a:off x="8418068" y="6419200"/>
            <a:ext cx="260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រក្សាសិទ្ធិដោយវិទ្យាស្ថាន ISTAD</a:t>
            </a:r>
            <a:endParaRPr b="0" i="0" sz="1600" u="none" cap="none" strike="noStrike">
              <a:solidFill>
                <a:srgbClr val="233D9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635395298_0_108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800"/>
              <a:buFont typeface="Google Sans Medium"/>
              <a:buNone/>
              <a:defRPr sz="2800">
                <a:solidFill>
                  <a:srgbClr val="233D97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f635395298_0_108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683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683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683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1800"/>
              <a:buFont typeface="Google Sans"/>
              <a:buChar char="•"/>
              <a:defRPr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1800"/>
              <a:buFont typeface="Google Sans"/>
              <a:buChar char="•"/>
              <a:defRPr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1800"/>
              <a:buFont typeface="Google Sans"/>
              <a:buChar char="•"/>
              <a:defRPr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1800"/>
              <a:buFont typeface="Google Sans"/>
              <a:buChar char="•"/>
              <a:defRPr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31" name="Google Shape;31;g3f635395298_0_108"/>
          <p:cNvSpPr/>
          <p:nvPr/>
        </p:nvSpPr>
        <p:spPr>
          <a:xfrm>
            <a:off x="-1" y="0"/>
            <a:ext cx="104700" cy="6858000"/>
          </a:xfrm>
          <a:prstGeom prst="rect">
            <a:avLst/>
          </a:prstGeom>
          <a:solidFill>
            <a:srgbClr val="233D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pic>
        <p:nvPicPr>
          <p:cNvPr id="32" name="Google Shape;32;g3f635395298_0_108" title="Logo Style 4.png"/>
          <p:cNvPicPr preferRelativeResize="0"/>
          <p:nvPr/>
        </p:nvPicPr>
        <p:blipFill rotWithShape="1">
          <a:blip r:embed="rId2">
            <a:alphaModFix amt="9000"/>
          </a:blip>
          <a:srcRect b="0" l="0" r="51136" t="0"/>
          <a:stretch/>
        </p:blipFill>
        <p:spPr>
          <a:xfrm>
            <a:off x="3541933" y="630672"/>
            <a:ext cx="5108135" cy="57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g3f635395298_0_108" title="New Logo iSTAD Full-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9950" y="190859"/>
            <a:ext cx="1773123" cy="6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f635395298_0_108"/>
          <p:cNvSpPr/>
          <p:nvPr/>
        </p:nvSpPr>
        <p:spPr>
          <a:xfrm>
            <a:off x="0" y="0"/>
            <a:ext cx="104700" cy="314700"/>
          </a:xfrm>
          <a:prstGeom prst="rect">
            <a:avLst/>
          </a:prstGeom>
          <a:solidFill>
            <a:srgbClr val="E11E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5" name="Google Shape;35;g3f635395298_0_108"/>
          <p:cNvSpPr/>
          <p:nvPr/>
        </p:nvSpPr>
        <p:spPr>
          <a:xfrm>
            <a:off x="44725" y="437225"/>
            <a:ext cx="349500" cy="191400"/>
          </a:xfrm>
          <a:prstGeom prst="roundRect">
            <a:avLst>
              <a:gd fmla="val 16667" name="adj"/>
            </a:avLst>
          </a:prstGeom>
          <a:solidFill>
            <a:srgbClr val="233D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6" name="Google Shape;36;g3f635395298_0_108"/>
          <p:cNvSpPr/>
          <p:nvPr/>
        </p:nvSpPr>
        <p:spPr>
          <a:xfrm>
            <a:off x="240950" y="354750"/>
            <a:ext cx="126600" cy="126600"/>
          </a:xfrm>
          <a:prstGeom prst="ellipse">
            <a:avLst/>
          </a:prstGeom>
          <a:solidFill>
            <a:srgbClr val="E11E2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7" name="Google Shape;37;g3f635395298_0_108"/>
          <p:cNvSpPr/>
          <p:nvPr/>
        </p:nvSpPr>
        <p:spPr>
          <a:xfrm>
            <a:off x="123859" y="314675"/>
            <a:ext cx="104700" cy="1047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8" name="Google Shape;38;g3f635395298_0_108"/>
          <p:cNvSpPr/>
          <p:nvPr/>
        </p:nvSpPr>
        <p:spPr>
          <a:xfrm>
            <a:off x="129300" y="532725"/>
            <a:ext cx="238200" cy="62400"/>
          </a:xfrm>
          <a:prstGeom prst="roundRect">
            <a:avLst>
              <a:gd fmla="val 178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9" name="Google Shape;39;g3f635395298_0_108"/>
          <p:cNvSpPr txBox="1"/>
          <p:nvPr/>
        </p:nvSpPr>
        <p:spPr>
          <a:xfrm>
            <a:off x="9869161" y="6452213"/>
            <a:ext cx="1008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0" name="Google Shape;40;g3f635395298_0_108" title="creative-common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9575" y="6411525"/>
            <a:ext cx="1252425" cy="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635395298_0_14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f635395298_0_14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f635395298_0_1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g3f635395298_0_148"/>
          <p:cNvSpPr/>
          <p:nvPr/>
        </p:nvSpPr>
        <p:spPr>
          <a:xfrm>
            <a:off x="2958718" y="2229450"/>
            <a:ext cx="1753800" cy="209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635395298_0_12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Kantumruy Pro SemiBold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635395298_0_12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g3f635395298_0_1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f635395298_0_1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f635395298_0_1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35395298_0_1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f635395298_0_12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f635395298_0_12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g3f635395298_0_1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635395298_0_1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635395298_0_1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35395298_0_13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f635395298_0_134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g3f635395298_0_134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g3f635395298_0_134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g3f635395298_0_134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g3f635395298_0_1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f635395298_0_1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f635395298_0_1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35395298_0_1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635395298_0_1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f635395298_0_1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f635395298_0_1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35395298_0_15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tumruy Pro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f635395298_0_15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g3f635395298_0_15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g3f635395298_0_1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f635395298_0_15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f635395298_0_1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35395298_0_15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tumruy Pro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635395298_0_159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g3f635395298_0_15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g3f635395298_0_15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f635395298_0_15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635395298_0_1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35395298_0_1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635395298_0_166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g3f635395298_0_16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f635395298_0_16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635395298_0_1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35395298_0_17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f635395298_0_17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g3f635395298_0_17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f635395298_0_17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635395298_0_1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635395298_0_8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Kantumruy Pro SemiBold"/>
              <a:buNone/>
              <a:defRPr b="0" i="0" sz="4400" u="none" cap="none" strike="noStrike">
                <a:solidFill>
                  <a:schemeClr val="dk1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f635395298_0_8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9pPr>
          </a:lstStyle>
          <a:p/>
        </p:txBody>
      </p:sp>
      <p:sp>
        <p:nvSpPr>
          <p:cNvPr id="12" name="Google Shape;12;g3f635395298_0_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9pPr>
          </a:lstStyle>
          <a:p/>
        </p:txBody>
      </p:sp>
      <p:sp>
        <p:nvSpPr>
          <p:cNvPr id="13" name="Google Shape;13;g3f635395298_0_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geeksforgeeks.org/java/how-jvm-works-jvm-architecture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jpg"/><Relationship Id="rId4" Type="http://schemas.openxmlformats.org/officeDocument/2006/relationships/image" Target="../media/image27.jpg"/><Relationship Id="rId5" Type="http://schemas.openxmlformats.org/officeDocument/2006/relationships/image" Target="../media/image2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07e961291_0_0"/>
          <p:cNvSpPr txBox="1"/>
          <p:nvPr>
            <p:ph type="ctrTitle"/>
          </p:nvPr>
        </p:nvSpPr>
        <p:spPr>
          <a:xfrm>
            <a:off x="1524000" y="167909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6000"/>
              <a:buFont typeface="Arial"/>
              <a:buNone/>
            </a:pPr>
            <a:r>
              <a:rPr b="1" lang="en-US">
                <a:latin typeface="Google Sans"/>
                <a:ea typeface="Google Sans"/>
                <a:cs typeface="Google Sans"/>
                <a:sym typeface="Google Sans"/>
              </a:rPr>
              <a:t>Java Programming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4" name="Google Shape;104;g3407e961291_0_0"/>
          <p:cNvSpPr txBox="1"/>
          <p:nvPr>
            <p:ph idx="1" type="subTitle"/>
          </p:nvPr>
        </p:nvSpPr>
        <p:spPr>
          <a:xfrm>
            <a:off x="3417300" y="4372425"/>
            <a:ext cx="53574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1E28"/>
              </a:buClr>
              <a:buSzPct val="100000"/>
              <a:buNone/>
            </a:pPr>
            <a:r>
              <a:rPr b="1" lang="en-US">
                <a:latin typeface="Google Sans"/>
                <a:ea typeface="Google Sans"/>
                <a:cs typeface="Google Sans"/>
                <a:sym typeface="Google Sans"/>
              </a:rPr>
              <a:t>Java Basic Input and Output &amp; Control Flow Statements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g3407e961291_0_0"/>
          <p:cNvSpPr txBox="1"/>
          <p:nvPr/>
        </p:nvSpPr>
        <p:spPr>
          <a:xfrm>
            <a:off x="105652" y="6382350"/>
            <a:ext cx="418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បង្រៀនដោយ៖ </a:t>
            </a:r>
            <a:r>
              <a:rPr lang="en-US" sz="16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លោក​គ្រូ​ គង់​ សុវណ្ណដា</a:t>
            </a:r>
            <a:r>
              <a:rPr b="0" i="0" lang="en-US" sz="1600" u="none" cap="none" strike="noStrike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0" i="0" sz="1600" u="none" cap="none" strike="noStrike">
              <a:solidFill>
                <a:srgbClr val="233D9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0444e75c4_0_6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800"/>
              <a:buFont typeface="Kantumruy Pro SemiBold"/>
              <a:buNone/>
            </a:pPr>
            <a:r>
              <a:rPr b="1" lang="en-US">
                <a:latin typeface="Google Sans"/>
                <a:ea typeface="Google Sans"/>
                <a:cs typeface="Google Sans"/>
                <a:sym typeface="Google Sans"/>
              </a:rPr>
              <a:t>មាតិកា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g360444e75c4_0_6"/>
          <p:cNvSpPr txBox="1"/>
          <p:nvPr>
            <p:ph idx="1" type="body"/>
          </p:nvPr>
        </p:nvSpPr>
        <p:spPr>
          <a:xfrm>
            <a:off x="735623" y="834978"/>
            <a:ext cx="11185800" cy="4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902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720"/>
              <a:buAutoNum type="arabicPeriod"/>
            </a:pPr>
            <a:r>
              <a:rPr lang="en-US" sz="2720"/>
              <a:t>Java Output with println(), print() and printf() 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720"/>
              <a:buAutoNum type="arabicPeriod"/>
            </a:pPr>
            <a:r>
              <a:rPr lang="en-US" sz="2720"/>
              <a:t>Concatenated String 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720"/>
              <a:buAutoNum type="arabicPeriod"/>
            </a:pPr>
            <a:r>
              <a:rPr lang="en-US" sz="2720"/>
              <a:t>Java Input with Scanner class 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720"/>
              <a:buAutoNum type="arabicPeriod"/>
            </a:pPr>
            <a:r>
              <a:rPr lang="en-US" sz="2720"/>
              <a:t>if…else statement 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720"/>
              <a:buAutoNum type="arabicPeriod"/>
            </a:pPr>
            <a:r>
              <a:rPr lang="en-US" sz="2720"/>
              <a:t>switch-case statement </a:t>
            </a:r>
            <a:r>
              <a:rPr lang="en-US" sz="2720"/>
              <a:t> 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720"/>
              <a:buAutoNum type="arabicPeriod"/>
            </a:pPr>
            <a:r>
              <a:rPr lang="en-US" sz="2720"/>
              <a:t>for loop, for-each loop, while loop, do-while loop 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720"/>
              <a:buAutoNum type="arabicPeriod"/>
            </a:pPr>
            <a:r>
              <a:rPr lang="en-US" sz="2720"/>
              <a:t>break and continue keywords 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720"/>
              <a:buAutoNum type="arabicPeriod"/>
            </a:pPr>
            <a:r>
              <a:rPr lang="en-US" sz="2720"/>
              <a:t>Labeled break and continue 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720"/>
              <a:buAutoNum type="arabicPeriod"/>
            </a:pPr>
            <a:r>
              <a:rPr lang="en-US" sz="2720"/>
              <a:t>String</a:t>
            </a:r>
            <a:endParaRPr sz="2720"/>
          </a:p>
          <a:p>
            <a:pPr indent="-49022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720"/>
              <a:buAutoNum type="arabicPeriod"/>
            </a:pPr>
            <a:r>
              <a:rPr lang="en-US" sz="2720"/>
              <a:t>Regex (Regular Expression)</a:t>
            </a:r>
            <a:endParaRPr sz="27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7eff667b_3_0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1C4587"/>
                </a:solidFill>
                <a:latin typeface="Google Sans"/>
                <a:ea typeface="Google Sans"/>
                <a:cs typeface="Google Sans"/>
                <a:sym typeface="Google Sans"/>
              </a:rPr>
              <a:t>1. Java Output with println(), print() and printf()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8" name="Google Shape;118;g3f67eff667b_3_0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E5AA8"/>
                </a:solidFill>
              </a:rPr>
              <a:t>Java ផ្តល់ methodបីសម្រាប់បញ្ជូនoutputទៅstandardoutputដែលជាអេក្រង់។ទាំងបីសុទ្ធតែហៅតាមរយៈ Sys</a:t>
            </a:r>
            <a:r>
              <a:rPr lang="en-US">
                <a:solidFill>
                  <a:srgbClr val="2E5AA8"/>
                </a:solidFill>
              </a:rPr>
              <a:t>t</a:t>
            </a:r>
            <a:r>
              <a:rPr lang="en-US">
                <a:solidFill>
                  <a:srgbClr val="2E5AA8"/>
                </a:solidFill>
              </a:rPr>
              <a:t>em.out ដូចគ្នា តែលទ្ធផលដែលបានខុសគ្នាបន្តិចបន្តួច។</a:t>
            </a:r>
            <a:endParaRPr>
              <a:solidFill>
                <a:srgbClr val="2E5AA8"/>
              </a:solidFill>
            </a:endParaRPr>
          </a:p>
          <a:p>
            <a:pPr indent="-283845" lvl="0" marL="2540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>
                <a:solidFill>
                  <a:srgbClr val="2E5AA8"/>
                </a:solidFill>
              </a:rPr>
              <a:t>print() បង្ហាញអក្សរដែលនៅក្នុងសញ្ញា quote ហើយទុក cursor នៅលើបន្ទាត់ដដែល។ ដូច្នេះ output បន្ទាប់នឹងបន្តភ្ជាប់ពីខាងក្រោយ។ យើងប្រើវាពេលចង់សួរសំណួរដល់អ្នកប្រើ ឬចង់បង្កើតបន្ទាត់តែមួយពី statement ច្រើន។</a:t>
            </a:r>
            <a:endParaRPr>
              <a:solidFill>
                <a:schemeClr val="dk1"/>
              </a:solidFill>
            </a:endParaRPr>
          </a:p>
          <a:p>
            <a:pPr indent="-283845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>
                <a:solidFill>
                  <a:srgbClr val="2E5AA8"/>
                </a:solidFill>
              </a:rPr>
              <a:t>println() ធ្វើដូច print() ដែរ ប៉ុន្តែបន្ទាប់ពីបង្ហាញរួច វាផ្លាស់ទី cursor ទៅដើមបន្ទាត់ថ្មី។ នេះជាជម្រើសដែលយើងប្រើញឹកញាប់ជាងគេ ហើយគួរជាជម្រើសដំបូងរបស់និស្សិត។</a:t>
            </a:r>
            <a:endParaRPr>
              <a:solidFill>
                <a:schemeClr val="dk1"/>
              </a:solidFill>
            </a:endParaRPr>
          </a:p>
          <a:p>
            <a:pPr indent="-283845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>
                <a:solidFill>
                  <a:srgbClr val="2E5AA8"/>
                </a:solidFill>
              </a:rPr>
              <a:t>printf() បង្ហាញអក្សរតាមទម្រង់ដែលយើងកំណត់ ស្រដៀងនឹង printf ក្នុងភាសា C/C++។ វាមិនចុះបន្ទាត់ថ្មីដោយខ្លួនឯងទេ ដូច្នេះត្រូវបញ្ចប់ format string ដោយ %n។ វាសាកសមសម្រាប់តារាងតម្រឹមត្រង់ ទឹកប្រាក់ និងការកំណត់ចំនួនខ្ទង់ទសភាគ។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ct val="65909"/>
              <a:buFont typeface="Battambang"/>
              <a:buNone/>
            </a:pPr>
            <a:r>
              <a:rPr lang="en-US">
                <a:solidFill>
                  <a:srgbClr val="2E5AA8"/>
                </a:solidFill>
              </a:rPr>
              <a:t>Example :</a:t>
            </a:r>
            <a:endParaRPr>
              <a:solidFill>
                <a:srgbClr val="2E5AA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g3f67eff667b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50" y="5034713"/>
            <a:ext cx="36195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f67eff667b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2898" y="5034723"/>
            <a:ext cx="5909800" cy="9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7eff667b_3_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1C4587"/>
                </a:solidFill>
                <a:latin typeface="Google Sans"/>
                <a:ea typeface="Google Sans"/>
                <a:cs typeface="Google Sans"/>
                <a:sym typeface="Google Sans"/>
              </a:rPr>
              <a:t>1. Java Output with println(), print() and printf()</a:t>
            </a:r>
            <a:endParaRPr/>
          </a:p>
        </p:txBody>
      </p:sp>
      <p:sp>
        <p:nvSpPr>
          <p:cNvPr id="127" name="Google Shape;127;g3f67eff667b_3_9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More example about println( ) and print( ):</a:t>
            </a:r>
            <a:endParaRPr/>
          </a:p>
        </p:txBody>
      </p:sp>
      <p:pic>
        <p:nvPicPr>
          <p:cNvPr id="128" name="Google Shape;128;g3f67eff667b_3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938" y="2040024"/>
            <a:ext cx="10309275" cy="24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7eff667b_3_17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1C4587"/>
                </a:solidFill>
                <a:latin typeface="Google Sans"/>
                <a:ea typeface="Google Sans"/>
                <a:cs typeface="Google Sans"/>
                <a:sym typeface="Google Sans"/>
              </a:rPr>
              <a:t>1. Java Output with println(), print() and printf()</a:t>
            </a:r>
            <a:endParaRPr/>
          </a:p>
        </p:txBody>
      </p:sp>
      <p:sp>
        <p:nvSpPr>
          <p:cNvPr id="135" name="Google Shape;135;g3f67eff667b_3_17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Printing variables and literals </a:t>
            </a:r>
            <a:endParaRPr/>
          </a:p>
        </p:txBody>
      </p:sp>
      <p:pic>
        <p:nvPicPr>
          <p:cNvPr id="136" name="Google Shape;136;g3f67eff667b_3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5450" y="2077750"/>
            <a:ext cx="763905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7eff667b_3_26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1C4587"/>
                </a:solidFill>
                <a:latin typeface="Google Sans"/>
                <a:ea typeface="Google Sans"/>
                <a:cs typeface="Google Sans"/>
                <a:sym typeface="Google Sans"/>
              </a:rPr>
              <a:t>1. Java Output with println(), print() and printf()</a:t>
            </a:r>
            <a:endParaRPr/>
          </a:p>
        </p:txBody>
      </p:sp>
      <p:sp>
        <p:nvSpPr>
          <p:cNvPr id="143" name="Google Shape;143;g3f67eff667b_3_26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Working with printf() </a:t>
            </a:r>
            <a:endParaRPr/>
          </a:p>
        </p:txBody>
      </p:sp>
      <p:pic>
        <p:nvPicPr>
          <p:cNvPr id="144" name="Google Shape;144;g3f67eff667b_3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63" y="1801524"/>
            <a:ext cx="11290275" cy="42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7eff667b_3_34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2. 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Concatenated String </a:t>
            </a:r>
            <a:endParaRPr/>
          </a:p>
        </p:txBody>
      </p:sp>
      <p:sp>
        <p:nvSpPr>
          <p:cNvPr id="151" name="Google Shape;151;g3f67eff667b_3_34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E5AA8"/>
                </a:solidFill>
              </a:rPr>
              <a:t>នៅពេលដែលផ្នែកណាមួយនៃការគណនាជា String នោះ operator + លែងជាការបូកលេខទៀតហើយ តែក្លាយជាការតភ្ជាប់អក្សរវិញ។ Java បម្លែងតម្លៃម្ខាងទៀតទៅជាអក្សរដោយស្វ័យប្រវត្តិ ដោយហៅ method toString() របស់វា។</a:t>
            </a:r>
            <a:endParaRPr>
              <a:solidFill>
                <a:srgbClr val="2E5AA8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ts val="1450"/>
              <a:buFont typeface="Battambang"/>
              <a:buNone/>
            </a:pPr>
            <a:r>
              <a:rPr lang="en-US">
                <a:solidFill>
                  <a:srgbClr val="2E5AA8"/>
                </a:solidFill>
              </a:rPr>
              <a:t>Printing concatenated string:</a:t>
            </a:r>
            <a:endParaRPr>
              <a:solidFill>
                <a:srgbClr val="2E5AA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g3f67eff667b_3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1725" y="3108025"/>
            <a:ext cx="6013650" cy="32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7eff667b_3_4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2. Concatenated String </a:t>
            </a:r>
            <a:endParaRPr/>
          </a:p>
        </p:txBody>
      </p:sp>
      <p:sp>
        <p:nvSpPr>
          <p:cNvPr id="159" name="Google Shape;159;g3f67eff667b_3_42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71">
                <a:solidFill>
                  <a:srgbClr val="2E5AA8"/>
                </a:solidFill>
              </a:rPr>
              <a:t>String នៅក្នុង Java ជា immutable មានន័យថាវាមិនអាចផ្លាស់ប្តូរបានទេក្រោយពេលបង្កើតរួច។ រាល់ពេលដែលយើងប្រើ + លើ String ជាការពិត Java បង្កើត String object ថ្មីមួយទៀត។ ការធ្វើបែបនេះម្តងពីរដងគ្មានបញ្ហាទេ តែបើធ្វើរាប់ពាន់ដងក្នុង loop វាធ្វើឱ្យ program យឺត។</a:t>
            </a:r>
            <a:endParaRPr>
              <a:solidFill>
                <a:srgbClr val="2E5AA8"/>
              </a:solidFill>
            </a:endParaRPr>
          </a:p>
          <a:p>
            <a:pPr indent="-307583" lvl="0" marL="2540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 sz="2426">
                <a:solidFill>
                  <a:srgbClr val="2E5AA8"/>
                </a:solidFill>
              </a:rPr>
              <a:t>កូដខាងឆ្វេងយឺត ព្រោះវាបង្កើត String object ថ្មីរាល់ជុំនៃ loop រហូតដល់មួយម៉ឺនដង។</a:t>
            </a:r>
            <a:endParaRPr sz="2426">
              <a:solidFill>
                <a:schemeClr val="dk1"/>
              </a:solidFill>
            </a:endParaRPr>
          </a:p>
          <a:p>
            <a:pPr indent="-307583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 sz="2426">
                <a:solidFill>
                  <a:srgbClr val="2E5AA8"/>
                </a:solidFill>
              </a:rPr>
              <a:t>កូដខាងស្តាំលឿនជាង ព្រោះ StringBuilder ប្រើ buffer តែមួយ ហើយបន្ថែមអក្សរចូលទៅក្នុង buffer នោះដដែល។</a:t>
            </a:r>
            <a:endParaRPr sz="2426">
              <a:solidFill>
                <a:schemeClr val="dk1"/>
              </a:solidFill>
            </a:endParaRPr>
          </a:p>
          <a:p>
            <a:pPr indent="-307583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 sz="2426">
                <a:solidFill>
                  <a:srgbClr val="2E5AA8"/>
                </a:solidFill>
              </a:rPr>
              <a:t>ទោះជាយ៉ាងណា នៅខាងក្រៅ loop ការប្រើ + ធម្មតានៅតែល្អ និងងាយអានជាង ដូច្នេះមិនចាំបាច់ប្រើ StringBuilder គ្រប់កន្លែងទេ។</a:t>
            </a:r>
            <a:endParaRPr sz="2426">
              <a:solidFill>
                <a:srgbClr val="2E5AA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26"/>
          </a:p>
        </p:txBody>
      </p:sp>
      <p:sp>
        <p:nvSpPr>
          <p:cNvPr id="160" name="Google Shape;160;g3f67eff667b_3_42"/>
          <p:cNvSpPr/>
          <p:nvPr/>
        </p:nvSpPr>
        <p:spPr>
          <a:xfrm>
            <a:off x="680390" y="5106585"/>
            <a:ext cx="5440800" cy="1326000"/>
          </a:xfrm>
          <a:prstGeom prst="rect">
            <a:avLst/>
          </a:prstGeom>
          <a:solidFill>
            <a:srgbClr val="F1F1F1"/>
          </a:solidFill>
          <a:ln cap="flat" cmpd="sng" w="12700">
            <a:solidFill>
              <a:srgbClr val="9CB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67eff667b_3_42"/>
          <p:cNvSpPr/>
          <p:nvPr/>
        </p:nvSpPr>
        <p:spPr>
          <a:xfrm>
            <a:off x="826695" y="5198025"/>
            <a:ext cx="514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result = 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120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b="0" i="0" lang="en-US" sz="1200" u="none" cap="none" strike="noStrik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 i &lt;= </a:t>
            </a:r>
            <a:r>
              <a:rPr b="0" i="0" lang="en-US" sz="1200" u="none" cap="none" strike="noStrik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10000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 i++) {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    result = result + i + 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", 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67eff667b_3_42"/>
          <p:cNvSpPr/>
          <p:nvPr/>
        </p:nvSpPr>
        <p:spPr>
          <a:xfrm>
            <a:off x="6303951" y="5106585"/>
            <a:ext cx="5440800" cy="1326000"/>
          </a:xfrm>
          <a:prstGeom prst="rect">
            <a:avLst/>
          </a:prstGeom>
          <a:solidFill>
            <a:srgbClr val="F1F1F1"/>
          </a:solidFill>
          <a:ln cap="flat" cmpd="sng" w="12700">
            <a:solidFill>
              <a:srgbClr val="9CB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67eff667b_3_42"/>
          <p:cNvSpPr/>
          <p:nvPr/>
        </p:nvSpPr>
        <p:spPr>
          <a:xfrm>
            <a:off x="6450255" y="5198025"/>
            <a:ext cx="514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StringBuilder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sb = </a:t>
            </a:r>
            <a:r>
              <a:rPr b="1" i="0" lang="en-US" sz="115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StringBuilder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115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b="0" i="0" lang="en-US" sz="1150" u="none" cap="none" strike="noStrik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 i &lt;= </a:t>
            </a:r>
            <a:r>
              <a:rPr b="0" i="0" lang="en-US" sz="1150" u="none" cap="none" strike="noStrik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10000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 i++) {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    sb.append(i).append(</a:t>
            </a:r>
            <a:r>
              <a:rPr b="0" i="0" lang="en-US" sz="115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", "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result = sb.toString();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7eff667b_3_61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3. 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Java Input with Scanner class </a:t>
            </a:r>
            <a:endParaRPr/>
          </a:p>
        </p:txBody>
      </p:sp>
      <p:sp>
        <p:nvSpPr>
          <p:cNvPr id="170" name="Google Shape;170;g3f67eff667b_3_61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You can get input from the user by using object of Scanner class.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In order to use Scanner, you must import java.util.Scanner package.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2 steps to get input with Scanner class are: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Create an object of Scanner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Take input from the user by method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g3f67eff667b_3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450" y="1928278"/>
            <a:ext cx="44005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67eff667b_3_71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3. Java Input with Scanner class</a:t>
            </a:r>
            <a:endParaRPr/>
          </a:p>
        </p:txBody>
      </p:sp>
      <p:sp>
        <p:nvSpPr>
          <p:cNvPr id="178" name="Google Shape;178;g3f67eff667b_3_71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Example: </a:t>
            </a:r>
            <a:endParaRPr/>
          </a:p>
        </p:txBody>
      </p:sp>
      <p:pic>
        <p:nvPicPr>
          <p:cNvPr id="179" name="Google Shape;179;g3f67eff667b_3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375" y="1772325"/>
            <a:ext cx="7807676" cy="399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7eff667b_3_78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3. Java Input with Scanner class</a:t>
            </a:r>
            <a:endParaRPr/>
          </a:p>
        </p:txBody>
      </p:sp>
      <p:sp>
        <p:nvSpPr>
          <p:cNvPr id="186" name="Google Shape;186;g3f67eff667b_3_78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Similarly, we can use methods to get long, float, double, and string input respectively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from the user: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nextLong()- integer 64bit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nextFloat()- floating-point 32bit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nextDouble()- floating-point 64bit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next() or nextLine()- character or string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7eff667b_3_85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3. Java Input with Scanner class</a:t>
            </a:r>
            <a:endParaRPr/>
          </a:p>
        </p:txBody>
      </p:sp>
      <p:sp>
        <p:nvSpPr>
          <p:cNvPr id="193" name="Google Shape;193;g3f67eff667b_3_85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Example:</a:t>
            </a:r>
            <a:endParaRPr/>
          </a:p>
        </p:txBody>
      </p:sp>
      <p:pic>
        <p:nvPicPr>
          <p:cNvPr id="194" name="Google Shape;194;g3f67eff667b_3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500" y="1366278"/>
            <a:ext cx="7867501" cy="518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81f09c06_0_0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3. 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if…else statement </a:t>
            </a:r>
            <a:endParaRPr/>
          </a:p>
        </p:txBody>
      </p:sp>
      <p:sp>
        <p:nvSpPr>
          <p:cNvPr id="201" name="Google Shape;201;g3f681f09c06_0_0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E5AA8"/>
                </a:solidFill>
              </a:rPr>
              <a:t>តើ if...else គឺជាអ្វី? </a:t>
            </a:r>
            <a:endParaRPr>
              <a:solidFill>
                <a:srgbClr val="2E5AA8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B57C2"/>
                </a:solidFill>
              </a:rPr>
              <a:t>if...else គឺជា Conditional Statement (លក្ខខណ្ឌ)</a:t>
            </a:r>
            <a:endParaRPr>
              <a:solidFill>
                <a:srgbClr val="0B57C2"/>
              </a:solidFill>
            </a:endParaRPr>
          </a:p>
          <a:p>
            <a:pPr indent="-319136" lvl="0" marL="2540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ts val="2426"/>
              <a:buFont typeface="Google Sans"/>
              <a:buChar char="•"/>
            </a:pPr>
            <a:r>
              <a:rPr lang="en-US" sz="2426">
                <a:solidFill>
                  <a:srgbClr val="2E5AA8"/>
                </a:solidFill>
              </a:rPr>
              <a:t>វាប្រើសម្រាប់សម្រេចចិត្តថា Program ត្រូវអនុវត្តកូដមួយណា។ </a:t>
            </a:r>
            <a:endParaRPr sz="2426">
              <a:solidFill>
                <a:schemeClr val="dk1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B57C2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0B57C2"/>
                </a:solidFill>
              </a:rPr>
              <a:t>បើលក្ខខណ្ឌ (condition) ពិត (true) → កូដក្នុង if ដំណើរការ។ </a:t>
            </a:r>
            <a:endParaRPr>
              <a:solidFill>
                <a:srgbClr val="0B57C2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B57C2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0B57C2"/>
                </a:solidFill>
              </a:rPr>
              <a:t>បើលក្ខខណ្ឌ មិនពិត (false) → កូដក្នុង else ដំណើរការ។ </a:t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26"/>
          </a:p>
        </p:txBody>
      </p:sp>
      <p:sp>
        <p:nvSpPr>
          <p:cNvPr id="202" name="Google Shape;202;g3f681f09c06_0_0"/>
          <p:cNvSpPr/>
          <p:nvPr/>
        </p:nvSpPr>
        <p:spPr>
          <a:xfrm>
            <a:off x="3187700" y="4203700"/>
            <a:ext cx="4248300" cy="133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if (condition) {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// Code when condition is true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} else {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// Code when condition is false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}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203" name="Google Shape;203;g3f681f09c06_0_0"/>
          <p:cNvSpPr txBox="1"/>
          <p:nvPr/>
        </p:nvSpPr>
        <p:spPr>
          <a:xfrm>
            <a:off x="361950" y="4203700"/>
            <a:ext cx="3000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681f09c06_0_1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3. 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switch-case statement 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/>
          </a:p>
        </p:txBody>
      </p:sp>
      <p:sp>
        <p:nvSpPr>
          <p:cNvPr id="210" name="Google Shape;210;g3f681f09c06_0_19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B57C2"/>
                </a:solidFill>
              </a:rPr>
              <a:t>តើ switch-case វាប្រើសម្រាប់អ្វី?            </a:t>
            </a:r>
            <a:endParaRPr>
              <a:solidFill>
                <a:srgbClr val="0B57C2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0B57C2"/>
                </a:solidFill>
              </a:rPr>
              <a:t>ប្រើសម្រាប់ជ្រើសរើស ករណី (case) មួយក្នុងចំណោមករណីជាច្រើន។ </a:t>
            </a:r>
            <a:endParaRPr>
              <a:solidFill>
                <a:srgbClr val="0B57C2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B57C2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0B57C2"/>
                </a:solidFill>
              </a:rPr>
              <a:t>ប្រៀបធៀបតម្លៃនៃ switch ជាមួយ case។ </a:t>
            </a:r>
            <a:endParaRPr>
              <a:solidFill>
                <a:srgbClr val="0B57C2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B57C2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0B57C2"/>
                </a:solidFill>
              </a:rPr>
              <a:t>បើគ្មាន case ណាមួយត្រូវ → default ដំណើរការ។ </a:t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26"/>
          </a:p>
        </p:txBody>
      </p:sp>
      <p:sp>
        <p:nvSpPr>
          <p:cNvPr id="211" name="Google Shape;211;g3f681f09c06_0_19"/>
          <p:cNvSpPr/>
          <p:nvPr/>
        </p:nvSpPr>
        <p:spPr>
          <a:xfrm>
            <a:off x="4771650" y="3350425"/>
            <a:ext cx="4553100" cy="257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switch (expression) {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case value1: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    // Code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    break;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case value2: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    // Code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    break;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default: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        // Code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}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212" name="Google Shape;212;g3f681f09c06_0_19"/>
          <p:cNvSpPr txBox="1"/>
          <p:nvPr/>
        </p:nvSpPr>
        <p:spPr>
          <a:xfrm>
            <a:off x="857250" y="3594100"/>
            <a:ext cx="3000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68bab5a54_1_0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6.   Loop</a:t>
            </a:r>
            <a:endParaRPr/>
          </a:p>
        </p:txBody>
      </p:sp>
      <p:sp>
        <p:nvSpPr>
          <p:cNvPr id="219" name="Google Shape;219;g3f68bab5a54_1_0"/>
          <p:cNvSpPr txBox="1"/>
          <p:nvPr>
            <p:ph idx="1" type="body"/>
          </p:nvPr>
        </p:nvSpPr>
        <p:spPr>
          <a:xfrm>
            <a:off x="503100" y="1403352"/>
            <a:ext cx="11185800" cy="178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E11E28"/>
                </a:solidFill>
              </a:rPr>
              <a:t>For loop :</a:t>
            </a:r>
            <a:r>
              <a:rPr lang="en-US" sz="2426"/>
              <a:t> ជាប្រភេទ Loop ដែលដំណើរការ Block of code ដដែលៗអាស្រ័យលើ number of time។</a:t>
            </a:r>
            <a:endParaRPr sz="242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2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E11E28"/>
                </a:solidFill>
              </a:rPr>
              <a:t>syntax</a:t>
            </a:r>
            <a:r>
              <a:rPr lang="en-US" sz="2426"/>
              <a:t>:   for ( int ; condition ; update )</a:t>
            </a:r>
            <a:endParaRPr sz="2426"/>
          </a:p>
        </p:txBody>
      </p:sp>
      <p:sp>
        <p:nvSpPr>
          <p:cNvPr id="220" name="Google Shape;220;g3f68bab5a54_1_0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68bab5a54_1_0"/>
          <p:cNvSpPr txBox="1"/>
          <p:nvPr>
            <p:ph type="title"/>
          </p:nvPr>
        </p:nvSpPr>
        <p:spPr>
          <a:xfrm>
            <a:off x="503725" y="692138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6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.1.   For loop</a:t>
            </a:r>
            <a:endParaRPr/>
          </a:p>
        </p:txBody>
      </p:sp>
      <p:pic>
        <p:nvPicPr>
          <p:cNvPr id="222" name="Google Shape;222;g3f68bab5a54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013" y="3185350"/>
            <a:ext cx="5029118" cy="26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68bab5a54_1_44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6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.   Loop</a:t>
            </a:r>
            <a:endParaRPr/>
          </a:p>
        </p:txBody>
      </p:sp>
      <p:sp>
        <p:nvSpPr>
          <p:cNvPr id="229" name="Google Shape;229;g3f68bab5a54_1_44"/>
          <p:cNvSpPr txBox="1"/>
          <p:nvPr>
            <p:ph idx="1" type="body"/>
          </p:nvPr>
        </p:nvSpPr>
        <p:spPr>
          <a:xfrm>
            <a:off x="503100" y="1403350"/>
            <a:ext cx="12070500" cy="178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E11E28"/>
                </a:solidFill>
              </a:rPr>
              <a:t>While</a:t>
            </a:r>
            <a:r>
              <a:rPr lang="en-US" sz="2426">
                <a:solidFill>
                  <a:srgbClr val="E11E28"/>
                </a:solidFill>
              </a:rPr>
              <a:t> loop : </a:t>
            </a:r>
            <a:r>
              <a:rPr lang="en-US" sz="2426">
                <a:solidFill>
                  <a:srgbClr val="233D97"/>
                </a:solidFill>
              </a:rPr>
              <a:t>ជាប្រភេទ Loop ដែលដំណើរការ Block of code ដដែលៗ ដោយកំណត់លក្ខខណ្ឌពិតទើបដំណើរការ។</a:t>
            </a:r>
            <a:endParaRPr sz="2426"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26"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E11E28"/>
                </a:solidFill>
              </a:rPr>
              <a:t>syntax : </a:t>
            </a:r>
            <a:r>
              <a:rPr lang="en-US" sz="2426">
                <a:solidFill>
                  <a:srgbClr val="233D97"/>
                </a:solidFill>
              </a:rPr>
              <a:t>while (condition)</a:t>
            </a:r>
            <a:endParaRPr sz="2426">
              <a:solidFill>
                <a:srgbClr val="233D97"/>
              </a:solidFill>
            </a:endParaRPr>
          </a:p>
        </p:txBody>
      </p:sp>
      <p:sp>
        <p:nvSpPr>
          <p:cNvPr id="230" name="Google Shape;230;g3f68bab5a54_1_44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68bab5a54_1_44"/>
          <p:cNvSpPr txBox="1"/>
          <p:nvPr>
            <p:ph type="title"/>
          </p:nvPr>
        </p:nvSpPr>
        <p:spPr>
          <a:xfrm>
            <a:off x="503725" y="692138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6.2.   While loop</a:t>
            </a:r>
            <a:endParaRPr/>
          </a:p>
        </p:txBody>
      </p:sp>
      <p:pic>
        <p:nvPicPr>
          <p:cNvPr id="232" name="Google Shape;232;g3f68bab5a54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525" y="3253350"/>
            <a:ext cx="3756058" cy="27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68bab5a54_1_53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6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.   Loop</a:t>
            </a:r>
            <a:endParaRPr/>
          </a:p>
        </p:txBody>
      </p:sp>
      <p:sp>
        <p:nvSpPr>
          <p:cNvPr id="239" name="Google Shape;239;g3f68bab5a54_1_53"/>
          <p:cNvSpPr txBox="1"/>
          <p:nvPr>
            <p:ph idx="1" type="body"/>
          </p:nvPr>
        </p:nvSpPr>
        <p:spPr>
          <a:xfrm>
            <a:off x="503100" y="1403352"/>
            <a:ext cx="11185800" cy="178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E11E28"/>
                </a:solidFill>
              </a:rPr>
              <a:t>Do-While loop : </a:t>
            </a:r>
            <a:r>
              <a:rPr lang="en-US" sz="2426"/>
              <a:t> </a:t>
            </a:r>
            <a:r>
              <a:rPr lang="en-US" sz="2426"/>
              <a:t>ជាប្រភេទ Loop ដែលដំណើរការ Block of code ដដែលៗ ប៉ុន្តែវាដំណើរការហើយទើបពិនិត្យលក្ខខណ្ឌតាមក្រោយ។</a:t>
            </a:r>
            <a:endParaRPr sz="242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2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E11E28"/>
                </a:solidFill>
              </a:rPr>
              <a:t>syntax</a:t>
            </a:r>
            <a:r>
              <a:rPr lang="en-US" sz="2426"/>
              <a:t>:   do { code } while(condition);</a:t>
            </a:r>
            <a:endParaRPr sz="2426"/>
          </a:p>
        </p:txBody>
      </p:sp>
      <p:sp>
        <p:nvSpPr>
          <p:cNvPr id="240" name="Google Shape;240;g3f68bab5a54_1_53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68bab5a54_1_53"/>
          <p:cNvSpPr txBox="1"/>
          <p:nvPr>
            <p:ph type="title"/>
          </p:nvPr>
        </p:nvSpPr>
        <p:spPr>
          <a:xfrm>
            <a:off x="503725" y="692138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6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.3.   Do-While loop</a:t>
            </a:r>
            <a:endParaRPr/>
          </a:p>
        </p:txBody>
      </p:sp>
      <p:pic>
        <p:nvPicPr>
          <p:cNvPr id="242" name="Google Shape;242;g3f68bab5a54_1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763" y="3253350"/>
            <a:ext cx="4267628" cy="27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68bab5a54_1_6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6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.   Loop</a:t>
            </a:r>
            <a:endParaRPr/>
          </a:p>
        </p:txBody>
      </p:sp>
      <p:sp>
        <p:nvSpPr>
          <p:cNvPr id="249" name="Google Shape;249;g3f68bab5a54_1_62"/>
          <p:cNvSpPr txBox="1"/>
          <p:nvPr>
            <p:ph idx="1" type="body"/>
          </p:nvPr>
        </p:nvSpPr>
        <p:spPr>
          <a:xfrm>
            <a:off x="503100" y="1403352"/>
            <a:ext cx="11185800" cy="178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E11E28"/>
                </a:solidFill>
              </a:rPr>
              <a:t>For each loop :</a:t>
            </a:r>
            <a:r>
              <a:rPr lang="en-US" sz="2426"/>
              <a:t> </a:t>
            </a:r>
            <a:r>
              <a:rPr lang="en-US" sz="2426"/>
              <a:t>ជាប្រភេទ Loop ដែលដំណើរការដូចទៅនឹង For loop តែវាមិនត្រូវការ number of time នោះទេ។</a:t>
            </a:r>
            <a:endParaRPr sz="242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2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E11E28"/>
                </a:solidFill>
              </a:rPr>
              <a:t>syntax</a:t>
            </a:r>
            <a:r>
              <a:rPr lang="en-US" sz="2426"/>
              <a:t>:   for( int name : value )</a:t>
            </a:r>
            <a:endParaRPr sz="2426"/>
          </a:p>
        </p:txBody>
      </p:sp>
      <p:sp>
        <p:nvSpPr>
          <p:cNvPr id="250" name="Google Shape;250;g3f68bab5a54_1_62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68bab5a54_1_62"/>
          <p:cNvSpPr txBox="1"/>
          <p:nvPr>
            <p:ph type="title"/>
          </p:nvPr>
        </p:nvSpPr>
        <p:spPr>
          <a:xfrm>
            <a:off x="503725" y="692138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6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.4.   For each loop</a:t>
            </a:r>
            <a:endParaRPr/>
          </a:p>
        </p:txBody>
      </p:sp>
      <p:pic>
        <p:nvPicPr>
          <p:cNvPr id="252" name="Google Shape;252;g3f68bab5a54_1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038" y="3185350"/>
            <a:ext cx="4159926" cy="27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68bab5a54_1_81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7.   Break and Continue keywords</a:t>
            </a:r>
            <a:endParaRPr/>
          </a:p>
        </p:txBody>
      </p:sp>
      <p:sp>
        <p:nvSpPr>
          <p:cNvPr id="259" name="Google Shape;259;g3f68bab5a54_1_81"/>
          <p:cNvSpPr txBox="1"/>
          <p:nvPr>
            <p:ph idx="1" type="body"/>
          </p:nvPr>
        </p:nvSpPr>
        <p:spPr>
          <a:xfrm>
            <a:off x="503725" y="1119163"/>
            <a:ext cx="13829400" cy="178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2636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6"/>
              <a:buChar char="•"/>
            </a:pPr>
            <a:r>
              <a:rPr lang="en-US" sz="2426">
                <a:solidFill>
                  <a:srgbClr val="E11E28"/>
                </a:solidFill>
              </a:rPr>
              <a:t>Break keyword : </a:t>
            </a:r>
            <a:r>
              <a:rPr lang="en-US" sz="2426">
                <a:solidFill>
                  <a:srgbClr val="233D97"/>
                </a:solidFill>
              </a:rPr>
              <a:t>ប្រើដើម្បីបញ្ចប់ loop។</a:t>
            </a:r>
            <a:endParaRPr sz="2426">
              <a:solidFill>
                <a:srgbClr val="233D97"/>
              </a:solidFill>
            </a:endParaRPr>
          </a:p>
          <a:p>
            <a:pPr indent="-382636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26"/>
              <a:buChar char="•"/>
            </a:pPr>
            <a:r>
              <a:rPr lang="en-US" sz="2426">
                <a:solidFill>
                  <a:srgbClr val="E11E28"/>
                </a:solidFill>
              </a:rPr>
              <a:t>Continue keyword :</a:t>
            </a:r>
            <a:r>
              <a:rPr lang="en-US" sz="2426">
                <a:solidFill>
                  <a:srgbClr val="233D97"/>
                </a:solidFill>
              </a:rPr>
              <a:t> ប្រើដើម្បី Skip នូវលក្ខខណ្ឌៈណាមួយហើយបន្តទៅលក្ខខណ្ឌមួយផ្សេងទៀត។</a:t>
            </a:r>
            <a:endParaRPr sz="2426">
              <a:solidFill>
                <a:srgbClr val="233D97"/>
              </a:solidFill>
            </a:endParaRPr>
          </a:p>
        </p:txBody>
      </p:sp>
      <p:sp>
        <p:nvSpPr>
          <p:cNvPr id="260" name="Google Shape;260;g3f68bab5a54_1_81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g3f68bab5a54_1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3185350"/>
            <a:ext cx="4679801" cy="279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f68bab5a54_1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6975" y="3185350"/>
            <a:ext cx="5106496" cy="27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f68bab5a54_1_81"/>
          <p:cNvSpPr txBox="1"/>
          <p:nvPr>
            <p:ph type="title"/>
          </p:nvPr>
        </p:nvSpPr>
        <p:spPr>
          <a:xfrm>
            <a:off x="2592200" y="2418750"/>
            <a:ext cx="12099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Break :</a:t>
            </a:r>
            <a:endParaRPr>
              <a:solidFill>
                <a:srgbClr val="E11E28"/>
              </a:solidFill>
            </a:endParaRPr>
          </a:p>
        </p:txBody>
      </p:sp>
      <p:sp>
        <p:nvSpPr>
          <p:cNvPr id="264" name="Google Shape;264;g3f68bab5a54_1_81"/>
          <p:cNvSpPr txBox="1"/>
          <p:nvPr>
            <p:ph type="title"/>
          </p:nvPr>
        </p:nvSpPr>
        <p:spPr>
          <a:xfrm>
            <a:off x="8283225" y="2418750"/>
            <a:ext cx="18699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Continue</a:t>
            </a: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endParaRPr>
              <a:solidFill>
                <a:srgbClr val="E11E2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68bab5a54_1_10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8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.   Labeled Break and Continue keywords</a:t>
            </a:r>
            <a:endParaRPr/>
          </a:p>
        </p:txBody>
      </p:sp>
      <p:sp>
        <p:nvSpPr>
          <p:cNvPr id="271" name="Google Shape;271;g3f68bab5a54_1_102"/>
          <p:cNvSpPr txBox="1"/>
          <p:nvPr>
            <p:ph idx="1" type="body"/>
          </p:nvPr>
        </p:nvSpPr>
        <p:spPr>
          <a:xfrm>
            <a:off x="503725" y="834975"/>
            <a:ext cx="11688900" cy="178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2636" lvl="0" marL="457200" rtl="0" algn="l">
              <a:spcBef>
                <a:spcPts val="1000"/>
              </a:spcBef>
              <a:spcAft>
                <a:spcPts val="0"/>
              </a:spcAft>
              <a:buSzPts val="2426"/>
              <a:buChar char="•"/>
            </a:pPr>
            <a:r>
              <a:rPr lang="en-US" sz="2426">
                <a:solidFill>
                  <a:srgbClr val="E11E28"/>
                </a:solidFill>
              </a:rPr>
              <a:t>Labeled Break :</a:t>
            </a:r>
            <a:r>
              <a:rPr lang="en-US" sz="2426">
                <a:solidFill>
                  <a:srgbClr val="233D97"/>
                </a:solidFill>
              </a:rPr>
              <a:t> ប្រើសម្រាប់បញ្ចប់ Nested loop។</a:t>
            </a:r>
            <a:endParaRPr sz="2426">
              <a:solidFill>
                <a:srgbClr val="233D97"/>
              </a:solidFill>
            </a:endParaRPr>
          </a:p>
          <a:p>
            <a:pPr indent="-382636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26"/>
              <a:buChar char="•"/>
            </a:pPr>
            <a:r>
              <a:rPr lang="en-US" sz="2426">
                <a:solidFill>
                  <a:srgbClr val="E11E28"/>
                </a:solidFill>
              </a:rPr>
              <a:t>Labeled Continue : </a:t>
            </a:r>
            <a:r>
              <a:rPr lang="en-US" sz="2426">
                <a:solidFill>
                  <a:srgbClr val="233D97"/>
                </a:solidFill>
              </a:rPr>
              <a:t>ប្រើដើម្បី Skip នូវលក្ខខណ្ឌៈណាមួយហើយបន្តទៅលក្ខខណ្ឌមួយផ្សេងទៀត នៅក្នុង Nested loop។</a:t>
            </a:r>
            <a:endParaRPr sz="2426">
              <a:solidFill>
                <a:srgbClr val="233D97"/>
              </a:solidFill>
            </a:endParaRPr>
          </a:p>
        </p:txBody>
      </p:sp>
      <p:sp>
        <p:nvSpPr>
          <p:cNvPr id="272" name="Google Shape;272;g3f68bab5a54_1_102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68bab5a54_1_102"/>
          <p:cNvSpPr txBox="1"/>
          <p:nvPr>
            <p:ph type="title"/>
          </p:nvPr>
        </p:nvSpPr>
        <p:spPr>
          <a:xfrm>
            <a:off x="1769250" y="2418750"/>
            <a:ext cx="27684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Before labeled </a:t>
            </a: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 :</a:t>
            </a:r>
            <a:endParaRPr>
              <a:solidFill>
                <a:srgbClr val="E11E28"/>
              </a:solidFill>
            </a:endParaRPr>
          </a:p>
        </p:txBody>
      </p:sp>
      <p:sp>
        <p:nvSpPr>
          <p:cNvPr id="274" name="Google Shape;274;g3f68bab5a54_1_102"/>
          <p:cNvSpPr txBox="1"/>
          <p:nvPr>
            <p:ph type="title"/>
          </p:nvPr>
        </p:nvSpPr>
        <p:spPr>
          <a:xfrm>
            <a:off x="8283225" y="2418750"/>
            <a:ext cx="31284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After labeled</a:t>
            </a: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endParaRPr>
              <a:solidFill>
                <a:srgbClr val="E11E28"/>
              </a:solidFill>
            </a:endParaRPr>
          </a:p>
        </p:txBody>
      </p:sp>
      <p:pic>
        <p:nvPicPr>
          <p:cNvPr id="275" name="Google Shape;275;g3f68bab5a54_1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00" y="3061950"/>
            <a:ext cx="5880018" cy="319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f68bab5a54_1_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125" y="3061950"/>
            <a:ext cx="6152963" cy="31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98c6d43e9_2_24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9.   String</a:t>
            </a:r>
            <a:endParaRPr/>
          </a:p>
        </p:txBody>
      </p:sp>
      <p:sp>
        <p:nvSpPr>
          <p:cNvPr id="283" name="Google Shape;283;g3f98c6d43e9_2_24"/>
          <p:cNvSpPr txBox="1"/>
          <p:nvPr>
            <p:ph idx="1" type="body"/>
          </p:nvPr>
        </p:nvSpPr>
        <p:spPr>
          <a:xfrm>
            <a:off x="503725" y="1480450"/>
            <a:ext cx="11688900" cy="93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2636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26"/>
              <a:buChar char="•"/>
            </a:pPr>
            <a:r>
              <a:rPr lang="en-US" sz="2426">
                <a:solidFill>
                  <a:srgbClr val="E11E28"/>
                </a:solidFill>
              </a:rPr>
              <a:t>String</a:t>
            </a:r>
            <a:r>
              <a:rPr lang="en-US" sz="2426"/>
              <a:t> in java is an object used to store a sequence of character enclosed in </a:t>
            </a:r>
            <a:r>
              <a:rPr lang="en-US" sz="2426"/>
              <a:t>double</a:t>
            </a:r>
            <a:r>
              <a:rPr lang="en-US" sz="2426"/>
              <a:t> quotes.</a:t>
            </a:r>
            <a:endParaRPr sz="2426">
              <a:solidFill>
                <a:srgbClr val="233D97"/>
              </a:solidFill>
            </a:endParaRPr>
          </a:p>
        </p:txBody>
      </p:sp>
      <p:sp>
        <p:nvSpPr>
          <p:cNvPr id="284" name="Google Shape;284;g3f98c6d43e9_2_24"/>
          <p:cNvSpPr txBox="1"/>
          <p:nvPr/>
        </p:nvSpPr>
        <p:spPr>
          <a:xfrm>
            <a:off x="1551125" y="37232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98c6d43e9_2_24"/>
          <p:cNvSpPr txBox="1"/>
          <p:nvPr>
            <p:ph type="title"/>
          </p:nvPr>
        </p:nvSpPr>
        <p:spPr>
          <a:xfrm>
            <a:off x="503725" y="747588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What is String ?</a:t>
            </a:r>
            <a:endParaRPr>
              <a:solidFill>
                <a:srgbClr val="E11E28"/>
              </a:solidFill>
            </a:endParaRPr>
          </a:p>
        </p:txBody>
      </p:sp>
      <p:sp>
        <p:nvSpPr>
          <p:cNvPr id="286" name="Google Shape;286;g3f98c6d43e9_2_24"/>
          <p:cNvSpPr txBox="1"/>
          <p:nvPr>
            <p:ph type="title"/>
          </p:nvPr>
        </p:nvSpPr>
        <p:spPr>
          <a:xfrm>
            <a:off x="503725" y="2410738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E11E28"/>
                </a:solidFill>
                <a:latin typeface="Google Sans"/>
                <a:ea typeface="Google Sans"/>
                <a:cs typeface="Google Sans"/>
                <a:sym typeface="Google Sans"/>
              </a:rPr>
              <a:t>How is a String stored in memory?</a:t>
            </a:r>
            <a:endParaRPr>
              <a:solidFill>
                <a:srgbClr val="E11E28"/>
              </a:solidFill>
            </a:endParaRPr>
          </a:p>
        </p:txBody>
      </p:sp>
      <p:sp>
        <p:nvSpPr>
          <p:cNvPr id="287" name="Google Shape;287;g3f98c6d43e9_2_24"/>
          <p:cNvSpPr txBox="1"/>
          <p:nvPr>
            <p:ph idx="1" type="body"/>
          </p:nvPr>
        </p:nvSpPr>
        <p:spPr>
          <a:xfrm>
            <a:off x="503725" y="2963850"/>
            <a:ext cx="11688900" cy="199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233D97"/>
                </a:solidFill>
                <a:latin typeface="Arial"/>
                <a:ea typeface="Arial"/>
                <a:cs typeface="Arial"/>
                <a:sym typeface="Arial"/>
              </a:rPr>
              <a:t>In Java, we know both </a:t>
            </a:r>
            <a:r>
              <a:rPr lang="en-US" sz="2400">
                <a:solidFill>
                  <a:srgbClr val="E11E28"/>
                </a:solidFill>
                <a:latin typeface="Arial"/>
                <a:ea typeface="Arial"/>
                <a:cs typeface="Arial"/>
                <a:sym typeface="Arial"/>
              </a:rPr>
              <a:t>Stack and Heap</a:t>
            </a:r>
            <a:r>
              <a:rPr lang="en-US" sz="2400">
                <a:solidFill>
                  <a:srgbClr val="233D97"/>
                </a:solidFill>
                <a:latin typeface="Arial"/>
                <a:ea typeface="Arial"/>
                <a:cs typeface="Arial"/>
                <a:sym typeface="Arial"/>
              </a:rPr>
              <a:t> space are part of </a:t>
            </a:r>
            <a:r>
              <a:rPr lang="en-US" sz="2400" u="sng">
                <a:solidFill>
                  <a:srgbClr val="233D9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Java Virtual Machine (JVM)</a:t>
            </a:r>
            <a:r>
              <a:rPr lang="en-US" sz="2400">
                <a:solidFill>
                  <a:srgbClr val="233D97"/>
                </a:solidFill>
                <a:latin typeface="Arial"/>
                <a:ea typeface="Arial"/>
                <a:cs typeface="Arial"/>
                <a:sym typeface="Arial"/>
              </a:rPr>
              <a:t>. However, these memory spaces are used for different purposes. Stack space contains specific values that are short-lived whereas Heap space is by Java Runtime to allocate memory to objects and JRE classes. </a:t>
            </a:r>
            <a:endParaRPr sz="2400">
              <a:solidFill>
                <a:srgbClr val="233D9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233D97"/>
                </a:solidFill>
                <a:latin typeface="Arial"/>
                <a:ea typeface="Arial"/>
                <a:cs typeface="Arial"/>
                <a:sym typeface="Arial"/>
              </a:rPr>
              <a:t>In Java, strings are stored in the heap area.</a:t>
            </a:r>
            <a:endParaRPr sz="2400">
              <a:solidFill>
                <a:srgbClr val="233D9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98c6d43e9_2_0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9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.   String</a:t>
            </a:r>
            <a:endParaRPr/>
          </a:p>
        </p:txBody>
      </p:sp>
      <p:sp>
        <p:nvSpPr>
          <p:cNvPr id="294" name="Google Shape;294;g3f98c6d43e9_2_0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g3f98c6d43e9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225" y="1469100"/>
            <a:ext cx="8351550" cy="493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f98c6d43e9_2_0"/>
          <p:cNvSpPr txBox="1"/>
          <p:nvPr>
            <p:ph type="title"/>
          </p:nvPr>
        </p:nvSpPr>
        <p:spPr>
          <a:xfrm>
            <a:off x="503725" y="747588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11E28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The below figure illustrates the storage of String :</a:t>
            </a:r>
            <a:r>
              <a:rPr lang="en-US" sz="2400">
                <a:solidFill>
                  <a:srgbClr val="E11E2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E11E2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98c6d43e9_2_43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9.   String Method</a:t>
            </a:r>
            <a:endParaRPr/>
          </a:p>
        </p:txBody>
      </p:sp>
      <p:sp>
        <p:nvSpPr>
          <p:cNvPr id="303" name="Google Shape;303;g3f98c6d43e9_2_43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g3f98c6d43e9_2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250" y="756375"/>
            <a:ext cx="6403501" cy="60540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98c6d43e9_2_60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9.   String Method</a:t>
            </a:r>
            <a:endParaRPr/>
          </a:p>
        </p:txBody>
      </p:sp>
      <p:sp>
        <p:nvSpPr>
          <p:cNvPr id="311" name="Google Shape;311;g3f98c6d43e9_2_60"/>
          <p:cNvSpPr txBox="1"/>
          <p:nvPr/>
        </p:nvSpPr>
        <p:spPr>
          <a:xfrm>
            <a:off x="857250" y="35941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g3f98c6d43e9_2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275" y="803225"/>
            <a:ext cx="6635450" cy="59603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98c6d43e9_1_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10. </a:t>
            </a: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Regex (Regular Expression)</a:t>
            </a:r>
            <a:endParaRPr/>
          </a:p>
        </p:txBody>
      </p:sp>
      <p:sp>
        <p:nvSpPr>
          <p:cNvPr id="319" name="Google Shape;319;g3f98c6d43e9_1_2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11E28"/>
                </a:solidFill>
              </a:rPr>
              <a:t>10.1. What is Regex (Regular Expression)</a:t>
            </a:r>
            <a:endParaRPr>
              <a:solidFill>
                <a:srgbClr val="E11E28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ts val="1450"/>
              <a:buFont typeface="Battambang"/>
              <a:buNone/>
            </a:pPr>
            <a:r>
              <a:rPr lang="en-US">
                <a:solidFill>
                  <a:srgbClr val="0B57C2"/>
                </a:solidFill>
              </a:rPr>
              <a:t>Regular Expression ដែលហៅកាត់ថា Regex គឺជាលំដាប់តួអក្សរពិសេសមួយដែលកំណត់ pattern ឬលំនាំសម្រាប់ស្វែងរក ត្រួតពិនិត្យ ឬកែប្រែអក្សរ។ និយាយឱ្យសាមញ្ញ Regex ជាភាសាតូចមួយសម្រាប់ពិពណ៌នាថាតើអក្សរប្រភេទណាដែលយើងចង់ស្វែងរក ដោយមិនចាំបាច់សរសេរ String គំរូជាក់លាក់រាប់រយសម្រាប់ករណីនីមួយៗឡើយ។</a:t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11E28"/>
              </a:solidFill>
            </a:endParaRPr>
          </a:p>
        </p:txBody>
      </p:sp>
      <p:sp>
        <p:nvSpPr>
          <p:cNvPr id="320" name="Google Shape;320;g3f98c6d43e9_1_2"/>
          <p:cNvSpPr/>
          <p:nvPr/>
        </p:nvSpPr>
        <p:spPr>
          <a:xfrm>
            <a:off x="1484750" y="3568500"/>
            <a:ext cx="8580300" cy="1116000"/>
          </a:xfrm>
          <a:prstGeom prst="rect">
            <a:avLst/>
          </a:prstGeom>
          <a:solidFill>
            <a:srgbClr val="F1F1F1"/>
          </a:solidFill>
          <a:ln cap="flat" cmpd="sng" w="16300">
            <a:solidFill>
              <a:srgbClr val="9CB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450" lIns="117450" spcFirstLastPara="1" rIns="117450" wrap="square" tIns="11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f98c6d43e9_1_2"/>
          <p:cNvSpPr/>
          <p:nvPr/>
        </p:nvSpPr>
        <p:spPr>
          <a:xfrm>
            <a:off x="1598201" y="3685977"/>
            <a:ext cx="83529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734"/>
              <a:buFont typeface="Courier New"/>
              <a:buNone/>
            </a:pPr>
            <a:r>
              <a:rPr b="0" i="0" lang="en-US" sz="1734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734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pattern = </a:t>
            </a:r>
            <a:r>
              <a:rPr b="0" i="0" lang="en-US" sz="1734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"^[0-9]{3}-[0-9]{4}$"</a:t>
            </a:r>
            <a:r>
              <a:rPr b="0" i="0" lang="en-US" sz="1734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734"/>
              <a:buFont typeface="Courier New"/>
              <a:buNone/>
            </a:pPr>
            <a:r>
              <a:rPr b="1" i="0" lang="en-US" sz="1734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b="0" i="0" lang="en-US" sz="1734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isValid = </a:t>
            </a:r>
            <a:r>
              <a:rPr b="0" i="0" lang="en-US" sz="1734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"012-3456"</a:t>
            </a:r>
            <a:r>
              <a:rPr b="0" i="0" lang="en-US" sz="1734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.matches(pattern);   </a:t>
            </a:r>
            <a:r>
              <a:rPr b="0" i="1" lang="en-US" sz="1734" u="none" cap="none" strike="noStrike">
                <a:solidFill>
                  <a:srgbClr val="9AA0AA"/>
                </a:solidFill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b="0" i="0" sz="1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98c6d43e9_1_11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10. Regex (Regular Expression)</a:t>
            </a:r>
            <a:endParaRPr/>
          </a:p>
        </p:txBody>
      </p:sp>
      <p:sp>
        <p:nvSpPr>
          <p:cNvPr id="328" name="Google Shape;328;g3f98c6d43e9_1_11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E11E28"/>
                </a:solidFill>
              </a:rPr>
              <a:t>10.2. </a:t>
            </a:r>
            <a:r>
              <a:rPr lang="en-US" sz="2800">
                <a:solidFill>
                  <a:srgbClr val="E11E28"/>
                </a:solidFill>
              </a:rPr>
              <a:t>Why do we use Regex?</a:t>
            </a:r>
            <a:endParaRPr>
              <a:solidFill>
                <a:srgbClr val="E11E28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ct val="51786"/>
              <a:buFont typeface="Battambang"/>
              <a:buNone/>
            </a:pPr>
            <a:r>
              <a:rPr lang="en-US" sz="2800">
                <a:solidFill>
                  <a:srgbClr val="2E5AA8"/>
                </a:solidFill>
              </a:rPr>
              <a:t>ដោយគ្មាន Regex យើងនៅតែអាចត្រួតពិនិត្យអក្សរបានដែរ ដោយប្រើ method ដូចជា contains(), startsWith() ឬ loop ធ្វើការត្រួតពិនិត្យតួអក្សរម្តងមួយៗ។ ប៉ុន្តែវិធីទាំងនោះមានចំណុចខ្សោយជាច្រើន ដែល Regex ជួយដោះស្រាយបាន។</a:t>
            </a:r>
            <a:endParaRPr sz="2800">
              <a:solidFill>
                <a:srgbClr val="2E5AA8"/>
              </a:solidFill>
            </a:endParaRPr>
          </a:p>
          <a:p>
            <a:pPr indent="-289560" lvl="0" marL="2540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 sz="2800">
                <a:solidFill>
                  <a:srgbClr val="2E5AA8"/>
                </a:solidFill>
              </a:rPr>
              <a:t>ការត្រួតពិនិត្យទម្រង់ស្មុគស្មាញ ដូចជាអ៊ីមែល ឬលេខទូរស័ព្ទ តម្រូវឱ្យសរសេរ if-else ជាច្រើនស្រទាប់ បើមិនប្រើ Regex ខណៈពេលដែល Regex អាចសរសេរជា pattern តែមួយបន្ទាត់។</a:t>
            </a:r>
            <a:endParaRPr sz="2800">
              <a:solidFill>
                <a:schemeClr val="dk1"/>
              </a:solidFill>
            </a:endParaRPr>
          </a:p>
          <a:p>
            <a:pPr indent="-28956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 sz="2800">
                <a:solidFill>
                  <a:srgbClr val="2E5AA8"/>
                </a:solidFill>
              </a:rPr>
              <a:t>Regex កាត់បន្ថយចំនួនកូដយ៉ាងច្រើន ។ ការងារដែលត្រូវការ loop និង condition ជាច្រើនបន្ទាត់ អាចសរសេរនៅក្នុង pattern តែមួយ។</a:t>
            </a:r>
            <a:endParaRPr sz="2800">
              <a:solidFill>
                <a:schemeClr val="dk1"/>
              </a:solidFill>
            </a:endParaRPr>
          </a:p>
          <a:p>
            <a:pPr indent="-28956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 sz="2800">
                <a:solidFill>
                  <a:srgbClr val="2E5AA8"/>
                </a:solidFill>
              </a:rPr>
              <a:t>Regex អាចប្រើសម្រាប់ការងារច្រើនប្រភេទក្នុងពេលតែមួយ គឺទាំងការត្រួតពិនិត្យ (validate), ការស្វែងរក (search), ការជំនួស (replace) និងការបំបែក (split) អក្សរ។</a:t>
            </a:r>
            <a:endParaRPr sz="2800">
              <a:solidFill>
                <a:schemeClr val="dk1"/>
              </a:solidFill>
            </a:endParaRPr>
          </a:p>
          <a:p>
            <a:pPr indent="-28956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ct val="100000"/>
              <a:buFont typeface="Google Sans"/>
              <a:buChar char="•"/>
            </a:pPr>
            <a:r>
              <a:rPr lang="en-US" sz="2800">
                <a:solidFill>
                  <a:srgbClr val="2E5AA8"/>
                </a:solidFill>
              </a:rPr>
              <a:t>Regex ជា syntax ជាសកលដែលប្រើបានស្ទើរគ្រប់ភាសាសរសេរកម្មវិធី ដូច្នេះចំណេះដឹងនេះមិនកំណត់ត្រឹម Java ប៉ុណ្ណោះទេ។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11E28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98c6d43e9_1_18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10. Regex (Regular Expression)</a:t>
            </a:r>
            <a:endParaRPr/>
          </a:p>
        </p:txBody>
      </p:sp>
      <p:sp>
        <p:nvSpPr>
          <p:cNvPr id="335" name="Google Shape;335;g3f98c6d43e9_1_18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B57C2"/>
                </a:solidFill>
              </a:rPr>
              <a:t>គ្មាន Regex ៖ ត្រូវពិនិត្យប្រវែង រួចពិនិត្យតួអក្សរម្តងមួយៗថាជាលេខឬអត់, ត្រូវសរសេរកូដច្រើនបន្ទាត់។</a:t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7C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3A93"/>
              </a:buClr>
              <a:buSzPts val="1350"/>
              <a:buFont typeface="Battambang"/>
              <a:buNone/>
            </a:pPr>
            <a:r>
              <a:rPr lang="en-US">
                <a:solidFill>
                  <a:srgbClr val="2E5AA8"/>
                </a:solidFill>
              </a:rPr>
              <a:t>មាន Regex ៖ pattern តែមួយបន្ទាត់ធ្វើការងារដូចគ្នាបេះបិទ។</a:t>
            </a:r>
            <a:endParaRPr>
              <a:solidFill>
                <a:srgbClr val="2E5AA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3A93"/>
              </a:solidFill>
            </a:endParaRPr>
          </a:p>
        </p:txBody>
      </p:sp>
      <p:sp>
        <p:nvSpPr>
          <p:cNvPr id="336" name="Google Shape;336;g3f98c6d43e9_1_18"/>
          <p:cNvSpPr/>
          <p:nvPr/>
        </p:nvSpPr>
        <p:spPr>
          <a:xfrm>
            <a:off x="1379350" y="1848725"/>
            <a:ext cx="7512300" cy="2051700"/>
          </a:xfrm>
          <a:prstGeom prst="rect">
            <a:avLst/>
          </a:prstGeom>
          <a:solidFill>
            <a:srgbClr val="F1F1F1"/>
          </a:solidFill>
          <a:ln cap="flat" cmpd="sng" w="16275">
            <a:solidFill>
              <a:srgbClr val="9CB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00" lIns="117200" spcFirstLastPara="1" rIns="117200" wrap="square" tIns="11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98c6d43e9_1_18"/>
          <p:cNvSpPr/>
          <p:nvPr/>
        </p:nvSpPr>
        <p:spPr>
          <a:xfrm>
            <a:off x="1478687" y="1965956"/>
            <a:ext cx="7313400" cy="18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538"/>
              <a:buFont typeface="Courier New"/>
              <a:buNone/>
            </a:pP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isPhoneValid(</a:t>
            </a:r>
            <a:r>
              <a:rPr b="0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s) {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8"/>
              <a:buFont typeface="Courier New"/>
              <a:buNone/>
            </a:pP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(s.length() != </a:t>
            </a:r>
            <a:r>
              <a:rPr b="0" i="0" lang="en-US" sz="1538" u="none" cap="none" strike="noStrik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8"/>
              <a:buFont typeface="Courier New"/>
              <a:buNone/>
            </a:pP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b="0" i="0" lang="en-US" sz="1538" u="none" cap="none" strike="noStrike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 i &lt; s.length(); i++) {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8"/>
              <a:buFont typeface="Courier New"/>
              <a:buNone/>
            </a:pP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(!Character.isDigit(s.charAt(i))) 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8"/>
              <a:buFont typeface="Courier New"/>
              <a:buNone/>
            </a:pP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    }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8"/>
              <a:buFont typeface="Courier New"/>
              <a:buNone/>
            </a:pP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538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38"/>
              <a:buFont typeface="Courier New"/>
              <a:buNone/>
            </a:pPr>
            <a:r>
              <a:rPr b="0" i="0" lang="en-US" sz="1538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98c6d43e9_1_18"/>
          <p:cNvSpPr/>
          <p:nvPr/>
        </p:nvSpPr>
        <p:spPr>
          <a:xfrm>
            <a:off x="854575" y="4680500"/>
            <a:ext cx="10182600" cy="777600"/>
          </a:xfrm>
          <a:prstGeom prst="rect">
            <a:avLst/>
          </a:prstGeom>
          <a:solidFill>
            <a:srgbClr val="F1F1F1"/>
          </a:solidFill>
          <a:ln cap="flat" cmpd="sng" w="16625">
            <a:solidFill>
              <a:srgbClr val="9CB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625" lIns="119625" spcFirstLastPara="1" rIns="119625" wrap="square" tIns="119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2"/>
          </a:p>
        </p:txBody>
      </p:sp>
      <p:sp>
        <p:nvSpPr>
          <p:cNvPr id="339" name="Google Shape;339;g3f98c6d43e9_1_18"/>
          <p:cNvSpPr/>
          <p:nvPr/>
        </p:nvSpPr>
        <p:spPr>
          <a:xfrm>
            <a:off x="989221" y="4800152"/>
            <a:ext cx="99132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7C2"/>
              </a:buClr>
              <a:buSzPts val="1832"/>
              <a:buFont typeface="Courier New"/>
              <a:buNone/>
            </a:pPr>
            <a:r>
              <a:rPr b="1" i="0" lang="en-US" sz="1832" u="none" cap="none" strike="noStrike">
                <a:solidFill>
                  <a:srgbClr val="0B57C2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b="0" i="0" lang="en-US" sz="1832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isPhoneValid = </a:t>
            </a:r>
            <a:r>
              <a:rPr b="0" i="0" lang="en-US" sz="1832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"012345678"</a:t>
            </a:r>
            <a:r>
              <a:rPr b="0" i="0" lang="en-US" sz="1832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.matches(</a:t>
            </a:r>
            <a:r>
              <a:rPr b="0" i="0" lang="en-US" sz="1832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"[0-9]{9}"</a:t>
            </a:r>
            <a:r>
              <a:rPr b="0" i="0" lang="en-US" sz="1832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8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98c6d43e9_1_28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10. Regex (Regular Expression)</a:t>
            </a:r>
            <a:endParaRPr/>
          </a:p>
        </p:txBody>
      </p:sp>
      <p:sp>
        <p:nvSpPr>
          <p:cNvPr id="346" name="Google Shape;346;g3f98c6d43e9_1_28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11E28"/>
                </a:solidFill>
              </a:rPr>
              <a:t>10.3. What are the common Regex symbols and metacharacters?</a:t>
            </a:r>
            <a:endParaRPr>
              <a:solidFill>
                <a:srgbClr val="E11E28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ts val="1450"/>
              <a:buFont typeface="Battambang"/>
              <a:buNone/>
            </a:pPr>
            <a:r>
              <a:rPr lang="en-US">
                <a:solidFill>
                  <a:srgbClr val="2E5AA8"/>
                </a:solidFill>
              </a:rPr>
              <a:t>Metacharacter គឺជាតួអក្សរដែលមានអត្ថន័យពិសេសក្នុង Regex មិនមែនតំណាងឱ្យខ្លួនវាផ្ទាល់ទេ។ តារាងខាងក្រោមរួមបញ្ចូល metacharacter ដែលប្រើញឹកញាប់បំផុត។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11E28"/>
              </a:solidFill>
            </a:endParaRPr>
          </a:p>
        </p:txBody>
      </p:sp>
      <p:graphicFrame>
        <p:nvGraphicFramePr>
          <p:cNvPr id="347" name="Google Shape;347;g3f98c6d43e9_1_28"/>
          <p:cNvGraphicFramePr/>
          <p:nvPr/>
        </p:nvGraphicFramePr>
        <p:xfrm>
          <a:off x="680465" y="24438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{25D65378-F35B-41B6-BB16-45709E4C7832}</a:tableStyleId>
              </a:tblPr>
              <a:tblGrid>
                <a:gridCol w="1188725"/>
                <a:gridCol w="3840475"/>
                <a:gridCol w="2651750"/>
                <a:gridCol w="338327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00"/>
                        <a:buFont typeface="Battambang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សញ្ញា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00"/>
                        <a:buFont typeface="Battambang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អត្ថន័យ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00"/>
                        <a:buFont typeface="Battambang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ឧទាហរណ៍ pattern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00"/>
                        <a:buFont typeface="Battambang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ត្រូវនឹងអក្សរអ្វី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.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តំណាងតួអក្សរណាមួយ (លើកលែងបន្ទាត់ថ្មី)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a.c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abc, a1c, a </a:t>
                      </a:r>
                      <a:r>
                        <a:rPr lang="en-US" sz="1200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c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^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ចាប់ផ្តើមនៃអក្សរ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^Java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Java...(ដើមអក្សរ)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$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ចុងបញ្ចប់នៃអក្សរ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Java$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...Java(ចុងអក្សរ)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*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តួអក្សរមុនវា កើតឡើង ០ ដងឡើងទៅ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ab*c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ac, abc, abbc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+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តួអក្សរមុនវា កើតឡើង ១ ដងឡើងទៅ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ab+c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abc, abbc (មិនមែន ac)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?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តួអក្សរមុនវា កើតឡើង ០ ឬ ១ ដង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colou?r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color, colour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|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ជម្រើស "ឬ"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cat|dog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cat ឬ dog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escape តួអក្សរពិសេស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\.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សញ្ញា . ពិតប្រាកដ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98c6d43e9_1_36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10. Regex (Regular Expression)</a:t>
            </a:r>
            <a:endParaRPr/>
          </a:p>
        </p:txBody>
      </p:sp>
      <p:sp>
        <p:nvSpPr>
          <p:cNvPr id="354" name="Google Shape;354;g3f98c6d43e9_1_36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ts val="1450"/>
              <a:buFont typeface="Battambang"/>
              <a:buNone/>
            </a:pPr>
            <a:r>
              <a:rPr lang="en-US">
                <a:solidFill>
                  <a:srgbClr val="2E5AA8"/>
                </a:solidFill>
              </a:rPr>
              <a:t>Character class គឺជាការដាក់តួអក្សរដែលអាចទទួលយកបានទាំងអស់ក្នុងសញ្ញា [ ] ចំណែក shorthand គឺជាសញ្ញាកាត់សម្រាប់ character class ដែលប្រើញឹកញាប់។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98c6d43e9_1_36"/>
          <p:cNvSpPr/>
          <p:nvPr/>
        </p:nvSpPr>
        <p:spPr>
          <a:xfrm>
            <a:off x="411480" y="274320"/>
            <a:ext cx="11384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93"/>
              </a:buClr>
              <a:buSzPts val="2300"/>
              <a:buFont typeface="Battambang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g3f98c6d43e9_1_36"/>
          <p:cNvGraphicFramePr/>
          <p:nvPr/>
        </p:nvGraphicFramePr>
        <p:xfrm>
          <a:off x="857203" y="229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{25D65378-F35B-41B6-BB16-45709E4C7832}</a:tableStyleId>
              </a:tblPr>
              <a:tblGrid>
                <a:gridCol w="1280150"/>
                <a:gridCol w="4480550"/>
                <a:gridCol w="530352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00"/>
                        <a:buFont typeface="Battambang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សញ្ញា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00"/>
                        <a:buFont typeface="Battambang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អត្ថន័យ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00"/>
                        <a:buFont typeface="Battambang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ឧទាហរណ៍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[abc]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តួអក្សរណាមួយក្នុងចំណោម a, b, c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"cat".matches("[cb]at")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[a-z]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អក្សរតូចណាមួយពី a ដល់ z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[a-z]+ ត្រូវនឹង "hello"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[0-9]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លេខណាមួយពី 0 ដល់ 9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[0-9]{3} ត្រូវនឹង "123"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[^abc]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តួអក្សរណាមួយក្រៅពី a, b, c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[^0-9] ត្រូវនឹងអក្សរមិនមែនលេខ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ស្មើនឹង [0-9] គឺជាលេខ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\d{3} ត្រូវនឹង "012"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មិនមែនលេខ ស្មើនឹង [^0-9]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\D+ ត្រូវនឹង "abc"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\w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តួអក្សរពាក្យ (letter, digit, underscore)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\w+ ត្រូវនឹង "hello_123"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\s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whitespace (ចន្លោះ, tab, បន្ទាត់ថ្មី)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Battambang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\s+ ត្រូវនឹងចន្លោះ</a:t>
                      </a:r>
                      <a:endParaRPr sz="120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98c6d43e9_1_47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10. Regex (Regular Expression)</a:t>
            </a:r>
            <a:endParaRPr/>
          </a:p>
        </p:txBody>
      </p:sp>
      <p:sp>
        <p:nvSpPr>
          <p:cNvPr id="363" name="Google Shape;363;g3f98c6d43e9_1_47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ts val="1450"/>
              <a:buFont typeface="Battambang"/>
              <a:buNone/>
            </a:pPr>
            <a:r>
              <a:rPr lang="en-US">
                <a:solidFill>
                  <a:srgbClr val="2E5AA8"/>
                </a:solidFill>
              </a:rPr>
              <a:t>Quantifierប្រាប់ថាតួអក្សរឬក្រុមតួអក្សរខាងមុខវាអាចកើតឡើងប៉ុន្មានដង។វាតែងតែដាក់ភ្ជាប់ខាងក្រោយអ្វីដែលវាកំណត់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64" name="Google Shape;364;g3f98c6d43e9_1_47"/>
          <p:cNvGraphicFramePr/>
          <p:nvPr/>
        </p:nvGraphicFramePr>
        <p:xfrm>
          <a:off x="966715" y="228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{25D65378-F35B-41B6-BB16-45709E4C7832}</a:tableStyleId>
              </a:tblPr>
              <a:tblGrid>
                <a:gridCol w="1371600"/>
                <a:gridCol w="3566150"/>
                <a:gridCol w="2560325"/>
                <a:gridCol w="35661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50"/>
                        <a:buFont typeface="Battambang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Quantifier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50"/>
                        <a:buFont typeface="Battambang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អត្ថន័យ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50"/>
                        <a:buFont typeface="Battambang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ឧទាហរណ៍ pattern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93"/>
                        </a:buClr>
                        <a:buSzPts val="1250"/>
                        <a:buFont typeface="Battambang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3A93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ត្រូវនឹងអក្សរអ្វី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{n}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កើតឡើងគត់ n ដង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\d{4}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លេខ ៤ ខ្ទង់ ដូចជា 2026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{n,}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កើតឡើងយ៉ាងតិច n ដង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\d{2,}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លេខ ២ ខ្ទង់ឡើងទៅ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{n,m}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កើតឡើងចាប់ពី n ដល់ m ដង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\d{2,4}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លេខ ២ ដល់ ៤ ខ្ទង់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*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កើតឡើង ០ ដងឡើងទៅ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\d*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"", "1", "123"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+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កើតឡើង ១ ដងឡើងទៅ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\d+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"1", "123" (មិនមែន "")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?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កើតឡើង ០ ឬ ១ ដង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\d?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Battambang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Battambang"/>
                          <a:ea typeface="Battambang"/>
                          <a:cs typeface="Battambang"/>
                          <a:sym typeface="Battambang"/>
                        </a:rPr>
                        <a:t>"" ឬ "5"</a:t>
                      </a:r>
                      <a:endParaRPr sz="1250" u="none" cap="none" strike="noStrike">
                        <a:latin typeface="Battambang"/>
                        <a:ea typeface="Battambang"/>
                        <a:cs typeface="Battambang"/>
                        <a:sym typeface="Battambang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CB3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5" name="Google Shape;365;g3f98c6d43e9_1_47"/>
          <p:cNvSpPr/>
          <p:nvPr/>
        </p:nvSpPr>
        <p:spPr>
          <a:xfrm>
            <a:off x="966690" y="5187886"/>
            <a:ext cx="11064300" cy="1097400"/>
          </a:xfrm>
          <a:prstGeom prst="rect">
            <a:avLst/>
          </a:prstGeom>
          <a:solidFill>
            <a:srgbClr val="F1F1F1"/>
          </a:solidFill>
          <a:ln cap="flat" cmpd="sng" w="12700">
            <a:solidFill>
              <a:srgbClr val="9CB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98c6d43e9_1_47"/>
          <p:cNvSpPr/>
          <p:nvPr/>
        </p:nvSpPr>
        <p:spPr>
          <a:xfrm>
            <a:off x="1113107" y="5279376"/>
            <a:ext cx="1077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7A3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"2026"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.matches(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"\\d{4}"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        </a:t>
            </a:r>
            <a:r>
              <a:rPr b="0" i="1" lang="en-US" sz="1200" u="none" cap="none" strike="noStrike">
                <a:solidFill>
                  <a:srgbClr val="9AA0AA"/>
                </a:solidFill>
                <a:latin typeface="Courier New"/>
                <a:ea typeface="Courier New"/>
                <a:cs typeface="Courier New"/>
                <a:sym typeface="Courier New"/>
              </a:rPr>
              <a:t>// true — exactly 4 digits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7A3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"026"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.matches(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"\\d{4}"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         </a:t>
            </a:r>
            <a:r>
              <a:rPr b="0" i="1" lang="en-US" sz="1200" u="none" cap="none" strike="noStrike">
                <a:solidFill>
                  <a:srgbClr val="9AA0AA"/>
                </a:solidFill>
                <a:latin typeface="Courier New"/>
                <a:ea typeface="Courier New"/>
                <a:cs typeface="Courier New"/>
                <a:sym typeface="Courier New"/>
              </a:rPr>
              <a:t>// false — only 3 digits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7A3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"0123456789"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.matches(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"\\d{2,4}"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r>
              <a:rPr b="0" i="1" lang="en-US" sz="1200" u="none" cap="none" strike="noStrike">
                <a:solidFill>
                  <a:srgbClr val="9AA0AA"/>
                </a:solidFill>
                <a:latin typeface="Courier New"/>
                <a:ea typeface="Courier New"/>
                <a:cs typeface="Courier New"/>
                <a:sym typeface="Courier New"/>
              </a:rPr>
              <a:t>// false — more than 4 digits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98c6d43e9_1_56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10. Regex (Regular Expression)</a:t>
            </a:r>
            <a:endParaRPr/>
          </a:p>
        </p:txBody>
      </p:sp>
      <p:sp>
        <p:nvSpPr>
          <p:cNvPr id="373" name="Google Shape;373;g3f98c6d43e9_1_56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11E28"/>
                </a:solidFill>
              </a:rPr>
              <a:t>10.4. How do you use Regex in Java? (Simple examples using the String class)</a:t>
            </a:r>
            <a:endParaRPr>
              <a:solidFill>
                <a:srgbClr val="E11E28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ts val="1450"/>
              <a:buFont typeface="Battambang"/>
              <a:buNone/>
            </a:pPr>
            <a:r>
              <a:rPr lang="en-US">
                <a:solidFill>
                  <a:srgbClr val="2E5AA8"/>
                </a:solidFill>
              </a:rPr>
              <a:t>យើងអាចប្រើ Regex ក្នុង Java បានយ៉ាងងាយ ដោយហៅ method ដែលមានស្រាប់នៅលើ String object ដោយផ្ទាល់ ដោយមិនចាំបាច់ import class បន្ថែមឡើយ។</a:t>
            </a:r>
            <a:endParaRPr>
              <a:solidFill>
                <a:schemeClr val="dk1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5AA8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2E5AA8"/>
                </a:solidFill>
              </a:rPr>
              <a:t>matches(String regex) ត្រឡប់ true បើអក្សរទាំងមូលត្រូវនឹង pattern ។ ត្រឡប់ false បើមិនត្រូវ។</a:t>
            </a:r>
            <a:endParaRPr>
              <a:solidFill>
                <a:schemeClr val="dk1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2E5AA8"/>
                </a:solidFill>
              </a:rPr>
              <a:t>replaceAll(String regex, String replacement) ជំនួសផ្នែកទាំងអស់ដែលត្រូវនឹង pattern ដោយអក្សរថ្មី។</a:t>
            </a:r>
            <a:endParaRPr>
              <a:solidFill>
                <a:schemeClr val="dk1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2E5AA8"/>
                </a:solidFill>
              </a:rPr>
              <a:t>replaceFirst(String regex, String replacement) ជំនួសតែផ្នែកដំបូងបំផុតដែលត្រូវនឹង pattern ប៉ុណ្ណោះ។</a:t>
            </a:r>
            <a:endParaRPr>
              <a:solidFill>
                <a:schemeClr val="dk1"/>
              </a:solidFill>
            </a:endParaRPr>
          </a:p>
          <a:p>
            <a:pPr indent="-304800" lvl="0" marL="2540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2E5AA8"/>
              </a:buClr>
              <a:buSzPts val="2200"/>
              <a:buFont typeface="Google Sans"/>
              <a:buChar char="•"/>
            </a:pPr>
            <a:r>
              <a:rPr lang="en-US">
                <a:solidFill>
                  <a:srgbClr val="2E5AA8"/>
                </a:solidFill>
              </a:rPr>
              <a:t>split(String regex) បំបែកអក្សរជា array តាមរយៈ pattern ដែលកំណត់ជាព្រំដែននៃការបំបែក។</a:t>
            </a:r>
            <a:endParaRPr>
              <a:solidFill>
                <a:srgbClr val="E11E28"/>
              </a:solidFill>
            </a:endParaRPr>
          </a:p>
        </p:txBody>
      </p:sp>
      <p:sp>
        <p:nvSpPr>
          <p:cNvPr id="374" name="Google Shape;374;g3f98c6d43e9_1_56"/>
          <p:cNvSpPr/>
          <p:nvPr/>
        </p:nvSpPr>
        <p:spPr>
          <a:xfrm>
            <a:off x="1168326" y="5686850"/>
            <a:ext cx="7663800" cy="1097400"/>
          </a:xfrm>
          <a:prstGeom prst="rect">
            <a:avLst/>
          </a:prstGeom>
          <a:solidFill>
            <a:srgbClr val="F1F1F1"/>
          </a:solidFill>
          <a:ln cap="flat" cmpd="sng" w="12700">
            <a:solidFill>
              <a:srgbClr val="9CB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f98c6d43e9_1_56"/>
          <p:cNvSpPr/>
          <p:nvPr/>
        </p:nvSpPr>
        <p:spPr>
          <a:xfrm>
            <a:off x="1269666" y="5778290"/>
            <a:ext cx="746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7A3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"012345678"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.matches(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"\\d{9}"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                     </a:t>
            </a:r>
            <a:r>
              <a:rPr b="0" i="1" lang="en-US" sz="1200" u="none" cap="none" strike="noStrike">
                <a:solidFill>
                  <a:srgbClr val="9AA0AA"/>
                </a:solidFill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7A3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"a1b2c3"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.replaceAll(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"[0-9]"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                  </a:t>
            </a:r>
            <a:r>
              <a:rPr b="0" i="1" lang="en-US" sz="1200" u="none" cap="none" strike="noStrike">
                <a:solidFill>
                  <a:srgbClr val="9AA0AA"/>
                </a:solidFill>
                <a:latin typeface="Courier New"/>
                <a:ea typeface="Courier New"/>
                <a:cs typeface="Courier New"/>
                <a:sym typeface="Courier New"/>
              </a:rPr>
              <a:t>// "abc"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7A3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"one,two;three"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.split(</a:t>
            </a:r>
            <a:r>
              <a:rPr b="0" i="0" lang="en-US" sz="1200" u="none" cap="none" strike="noStrike">
                <a:solidFill>
                  <a:srgbClr val="1E7A3C"/>
                </a:solidFill>
                <a:latin typeface="Courier New"/>
                <a:ea typeface="Courier New"/>
                <a:cs typeface="Courier New"/>
                <a:sym typeface="Courier New"/>
              </a:rPr>
              <a:t>"[,;]"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                     </a:t>
            </a:r>
            <a:r>
              <a:rPr b="0" i="1" lang="en-US" sz="1200" u="none" cap="none" strike="noStrike">
                <a:solidFill>
                  <a:srgbClr val="9AA0AA"/>
                </a:solidFill>
                <a:latin typeface="Courier New"/>
                <a:ea typeface="Courier New"/>
                <a:cs typeface="Courier New"/>
                <a:sym typeface="Courier New"/>
              </a:rPr>
              <a:t>// [one, two, three]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98c6d43e9_1_65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>
                <a:latin typeface="Google Sans"/>
                <a:ea typeface="Google Sans"/>
                <a:cs typeface="Google Sans"/>
                <a:sym typeface="Google Sans"/>
              </a:rPr>
              <a:t>10. Regex (Regular Expression)</a:t>
            </a:r>
            <a:endParaRPr/>
          </a:p>
        </p:txBody>
      </p:sp>
      <p:sp>
        <p:nvSpPr>
          <p:cNvPr id="382" name="Google Shape;382;g3f98c6d43e9_1_65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b64993a3c5_0_13"/>
          <p:cNvSpPr/>
          <p:nvPr/>
        </p:nvSpPr>
        <p:spPr>
          <a:xfrm>
            <a:off x="5044763" y="874575"/>
            <a:ext cx="2075328" cy="691794"/>
          </a:xfrm>
          <a:prstGeom prst="flowChartTerminator">
            <a:avLst/>
          </a:prstGeom>
          <a:solidFill>
            <a:srgbClr val="233D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1b64993a3c5_0_13"/>
          <p:cNvSpPr txBox="1"/>
          <p:nvPr>
            <p:ph idx="4294967295" type="title"/>
          </p:nvPr>
        </p:nvSpPr>
        <p:spPr>
          <a:xfrm>
            <a:off x="243525" y="985125"/>
            <a:ext cx="116778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ct val="85135"/>
              <a:buFont typeface="Kantumruy Pro SemiBold"/>
              <a:buNone/>
            </a:pPr>
            <a:r>
              <a:rPr b="1" lang="en-US" sz="296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សមាជិកក្រុម</a:t>
            </a:r>
            <a:endParaRPr b="1" sz="296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0" name="Google Shape;390;g1b64993a3c5_0_13"/>
          <p:cNvSpPr txBox="1"/>
          <p:nvPr/>
        </p:nvSpPr>
        <p:spPr>
          <a:xfrm>
            <a:off x="2932025" y="4500925"/>
            <a:ext cx="1753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</a:t>
            </a:r>
            <a:endParaRPr b="1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rPr>
              <a:t>ចាន់ស្រីមុី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—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rPr>
              <a:t>RUPP</a:t>
            </a:r>
            <a:endParaRPr b="0" i="1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1" name="Google Shape;391;g1b64993a3c5_0_13"/>
          <p:cNvSpPr txBox="1"/>
          <p:nvPr/>
        </p:nvSpPr>
        <p:spPr>
          <a:xfrm>
            <a:off x="5219100" y="4500925"/>
            <a:ext cx="1753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ឆោម</a:t>
            </a:r>
            <a:endParaRPr b="1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ទិត្យសិលា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—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ISTAD</a:t>
            </a:r>
            <a:endParaRPr b="0" i="1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2" name="Google Shape;392;g1b64993a3c5_0_13"/>
          <p:cNvSpPr txBox="1"/>
          <p:nvPr/>
        </p:nvSpPr>
        <p:spPr>
          <a:xfrm>
            <a:off x="7506175" y="4500925"/>
            <a:ext cx="1753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នឿម</a:t>
            </a:r>
            <a:endParaRPr b="1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សក្កដា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—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ISTAD</a:t>
            </a:r>
            <a:endParaRPr b="0" i="1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93" name="Google Shape;393;g1b64993a3c5_0_13" title="photo_2026-05-25_23-46-26.jpg"/>
          <p:cNvPicPr preferRelativeResize="0"/>
          <p:nvPr/>
        </p:nvPicPr>
        <p:blipFill rotWithShape="1">
          <a:blip r:embed="rId3">
            <a:alphaModFix/>
          </a:blip>
          <a:srcRect b="3985" l="0" r="0" t="3976"/>
          <a:stretch/>
        </p:blipFill>
        <p:spPr>
          <a:xfrm>
            <a:off x="5219100" y="2229450"/>
            <a:ext cx="1753800" cy="2075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2"/>
              </a:srgbClr>
            </a:outerShdw>
          </a:effectLst>
        </p:spPr>
      </p:pic>
      <p:pic>
        <p:nvPicPr>
          <p:cNvPr id="394" name="Google Shape;394;g1b64993a3c5_0_13" title="photo_2025-07-30_16-11-49.jpg"/>
          <p:cNvPicPr preferRelativeResize="0"/>
          <p:nvPr/>
        </p:nvPicPr>
        <p:blipFill rotWithShape="1">
          <a:blip r:embed="rId4">
            <a:alphaModFix/>
          </a:blip>
          <a:srcRect b="6978" l="0" r="0" t="6978"/>
          <a:stretch/>
        </p:blipFill>
        <p:spPr>
          <a:xfrm>
            <a:off x="2932013" y="2229575"/>
            <a:ext cx="1807200" cy="209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95" name="Google Shape;395;g1b64993a3c5_0_13" title="photo_2026-08-06_20-51-45.jpg"/>
          <p:cNvPicPr preferRelativeResize="0"/>
          <p:nvPr/>
        </p:nvPicPr>
        <p:blipFill rotWithShape="1">
          <a:blip r:embed="rId5">
            <a:alphaModFix/>
          </a:blip>
          <a:srcRect b="8513" l="0" r="0" t="8513"/>
          <a:stretch/>
        </p:blipFill>
        <p:spPr>
          <a:xfrm>
            <a:off x="7452775" y="2229450"/>
            <a:ext cx="1753800" cy="2075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b64993a3c5_0_7"/>
          <p:cNvSpPr txBox="1"/>
          <p:nvPr>
            <p:ph type="ctrTitle"/>
          </p:nvPr>
        </p:nvSpPr>
        <p:spPr>
          <a:xfrm>
            <a:off x="1524000" y="92899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6000"/>
              <a:buFont typeface="Kantumruy Pro SemiBold"/>
              <a:buNone/>
            </a:pPr>
            <a:r>
              <a:rPr b="1" i="1" lang="en-US">
                <a:latin typeface="Google Sans"/>
                <a:ea typeface="Google Sans"/>
                <a:cs typeface="Google Sans"/>
                <a:sym typeface="Google Sans"/>
              </a:rPr>
              <a:t>សូមអរគុណ!</a:t>
            </a:r>
            <a:endParaRPr b="1" i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g1b64993a3c5_0_7"/>
          <p:cNvSpPr txBox="1"/>
          <p:nvPr>
            <p:ph idx="1" type="subTitle"/>
          </p:nvPr>
        </p:nvSpPr>
        <p:spPr>
          <a:xfrm>
            <a:off x="1524000" y="3922364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1E28"/>
              </a:buClr>
              <a:buSzPts val="3200"/>
              <a:buNone/>
            </a:pPr>
            <a:r>
              <a:rPr b="1" i="1" lang="en-US" sz="2400">
                <a:latin typeface="Consolas"/>
                <a:ea typeface="Consolas"/>
                <a:cs typeface="Consolas"/>
                <a:sym typeface="Consolas"/>
              </a:rPr>
              <a:t>With great achievement comes great responsibility!</a:t>
            </a:r>
            <a:endParaRPr b="1" i="1"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2022-03-03T16:13:23Z</dcterms:created>
  <dc:creator>Chhaya</dc:creator>
</cp:coreProperties>
</file>